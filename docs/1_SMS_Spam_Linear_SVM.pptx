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iriş" id="{5df15f27-2d13-9d96-bb91-32f0ac4d3afe}">
          <p14:sldIdLst>
            <p14:sldId id="256"/>
          </p14:sldIdLst>
        </p14:section>
        <p14:section name="Algoritma" id="{a7f0dfba-962d-b472-e1f3-3f508e47e05e}">
          <p14:sldIdLst>
            <p14:sldId id="257"/>
            <p14:sldId id="258"/>
            <p14:sldId id="259"/>
            <p14:sldId id="260"/>
            <p14:sldId id="261"/>
          </p14:sldIdLst>
        </p14:section>
        <p14:section name="Proje yolculuğu" id="{2dbb52cd-f875-d538-39fb-a526f535f81e}">
          <p14:sldIdLst>
            <p14:sldId id="262"/>
            <p14:sldId id="263"/>
            <p14:sldId id="264"/>
            <p14:sldId id="265"/>
            <p14:sldId id="266"/>
          </p14:sldIdLst>
        </p14:section>
        <p14:section name="Sonuçlar" id="{8186e006-5c7e-2f64-d6ed-282f40346fc8}">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İlk model (NB, alpha=1)</c:v>
                </c:pt>
              </c:strCache>
            </c:strRef>
          </c:tx>
          <c:spPr>
            <a:solidFill>
              <a:srgbClr val="9CA3AF"/>
            </a:solidFill>
            <a:effectLst/>
          </c:spPr>
          <c:invertIfNegative val="0"/>
          <c:dLbls>
            <c:numFmt formatCode="0"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cat>
            <c:multiLvlStrRef>
              <c:f>Sheet1!$A$2:$A$4</c:f>
              <c:multiLvlStrCache>
                <c:ptCount val="3"/>
                <c:lvl>
                  <c:pt idx="0">
                    <c:v>Recall</c:v>
                  </c:pt>
                  <c:pt idx="1">
                    <c:v>Precision</c:v>
                  </c:pt>
                  <c:pt idx="2">
                    <c:v>F1</c:v>
                  </c:pt>
                </c:lvl>
              </c:multiLvlStrCache>
            </c:multiLvlStrRef>
          </c:cat>
          <c:val>
            <c:numRef>
              <c:f>Sheet1!$B$2:$B$4</c:f>
              <c:numCache>
                <c:formatCode>General</c:formatCode>
                <c:ptCount val="3"/>
                <c:pt idx="0">
                  <c:v>62.6</c:v>
                </c:pt>
                <c:pt idx="1">
                  <c:v>100</c:v>
                </c:pt>
                <c:pt idx="2">
                  <c:v>77</c:v>
                </c:pt>
              </c:numCache>
            </c:numRef>
          </c:val>
        </c:ser>
        <c:ser>
          <c:idx val="1"/>
          <c:order val="1"/>
          <c:tx>
            <c:strRef>
              <c:f>Sheet1!$C$1</c:f>
              <c:strCache>
                <c:ptCount val="1"/>
                <c:pt idx="0">
                  <c:v>Final (Linear SVM)</c:v>
                </c:pt>
              </c:strCache>
            </c:strRef>
          </c:tx>
          <c:spPr>
            <a:solidFill>
              <a:srgbClr val="E76F51"/>
            </a:solidFill>
            <a:effectLst/>
          </c:spPr>
          <c:invertIfNegative val="0"/>
          <c:dLbls>
            <c:numFmt formatCode="0"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cat>
            <c:multiLvlStrRef>
              <c:f>Sheet1!$A$2:$A$4</c:f>
              <c:multiLvlStrCache>
                <c:ptCount val="3"/>
                <c:lvl>
                  <c:pt idx="0">
                    <c:v>Recall</c:v>
                  </c:pt>
                  <c:pt idx="1">
                    <c:v>Precision</c:v>
                  </c:pt>
                  <c:pt idx="2">
                    <c:v>F1</c:v>
                  </c:pt>
                </c:lvl>
              </c:multiLvlStrCache>
            </c:multiLvlStrRef>
          </c:cat>
          <c:val>
            <c:numRef>
              <c:f>Sheet1!$C$2:$C$4</c:f>
              <c:numCache>
                <c:formatCode>General</c:formatCode>
                <c:ptCount val="3"/>
                <c:pt idx="0">
                  <c:v>90.1</c:v>
                </c:pt>
                <c:pt idx="1">
                  <c:v>95.2</c:v>
                </c:pt>
                <c:pt idx="2">
                  <c:v>92.5</c:v>
                </c:pt>
              </c:numCache>
            </c:numRef>
          </c:val>
        </c:ser>
        <c:dLbls>
          <c:numFmt formatCode="0"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sunumda İngilizce SMS mesajlarını spam ya da normal olarak sınıflandıran projemi anlatıyorum. Önce algoritmanın kendisini, sonra projeyi nasıl geliştirdiğimi göstereceğim.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Metin önce TF-IDF ile sayılara çevriliyor, sonra SVM bir karar düzlemi çiziyor. Önemli olan marj: düzlem iki sınıfa da olabildiğince uzak.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parametresi marj ile hata arasındaki dengeyi kurar; CV ile C=1 seçildi. Veri dengesiz olduğu için spam hatalarına daha büyük ağırlık veriliyor.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Ağırlıkları model öğrendi: txt, call, www, reply gibi kelimeler spam yönüne; me, my, ok gibi gündelik kelimeler normal yönüne itiyor.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Mühendislik kararlarını ben verdim; AI Agent işin emek kısmını yaptı ve teslim öncesi önerilerde bulundu. Her öneriyi inceleyip uygulamaya aldım.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pak">
    <p:bg>
      <p:bgPr>
        <a:solidFill>
          <a:srgbClr val="1B243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463040"/>
          </a:xfrm>
          <a:prstGeom prst="rect">
            <a:avLst/>
          </a:prstGeom>
          <a:noFill/>
          <a:ln/>
        </p:spPr>
        <p:txBody>
          <a:bodyPr wrap="square" rtlCol="0"/>
          <a:lstStyle>
            <a:lvl1pPr algn="l" indent="0" marL="0">
              <a:buNone/>
              <a:defRPr lang="en-US" sz="3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800" dirty="0"/>
          </a:p>
        </p:txBody>
      </p:sp>
      <p:sp>
        <p:nvSpPr>
          <p:cNvPr id="3" name="Text 0"/>
          <p:cNvSpPr/>
          <p:nvPr>
            <p:ph idx="101" type="body" hasCustomPrompt="1"/>
          </p:nvPr>
        </p:nvSpPr>
        <p:spPr>
          <a:xfrm>
            <a:off x="548640" y="2880360"/>
            <a:ext cx="8046720" cy="1280160"/>
          </a:xfrm>
          <a:prstGeom prst="rect">
            <a:avLst/>
          </a:prstGeom>
          <a:noFill/>
          <a:ln/>
        </p:spPr>
        <p:txBody>
          <a:bodyPr wrap="square" rtlCol="0"/>
          <a:lstStyle>
            <a:lvl1pPr indent="0" marL="0">
              <a:buNone/>
              <a:defRPr lang="en-US" sz="1600" dirty="0">
                <a:solidFill>
                  <a:srgbClr val="D1D5DB"/>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olum">
    <p:bg>
      <p:bgPr>
        <a:solidFill>
          <a:srgbClr val="1B243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91440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ph idx="101" type="body" hasCustomPrompt="1"/>
          </p:nvPr>
        </p:nvSpPr>
        <p:spPr>
          <a:xfrm>
            <a:off x="548640" y="2743200"/>
            <a:ext cx="8046720" cy="822960"/>
          </a:xfrm>
          <a:prstGeom prst="rect">
            <a:avLst/>
          </a:prstGeom>
          <a:noFill/>
          <a:ln/>
        </p:spPr>
        <p:txBody>
          <a:bodyPr wrap="square" rtlCol="0"/>
          <a:lstStyle>
            <a:lvl1pPr indent="0" marL="0">
              <a:buNone/>
              <a:defRPr lang="en-US" sz="1600" dirty="0">
                <a:solidFill>
                  <a:srgbClr val="D1D5DB"/>
                </a:solidFill>
              </a:defRPr>
            </a:lvl1pPr>
          </a:lstStyle>
          <a:p>
            <a:pPr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cerik">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457200" y="4800600"/>
            <a:ext cx="6400800" cy="228600"/>
          </a:xfrm>
          <a:prstGeom prst="rect">
            <a:avLst/>
          </a:prstGeom>
          <a:noFill/>
          <a:ln/>
        </p:spPr>
        <p:txBody>
          <a:bodyPr wrap="square" rtlCol="0" anchor="ctr"/>
          <a:lstStyle/>
          <a:p>
            <a:pPr indent="0" marL="0">
              <a:buNone/>
            </a:pPr>
            <a:r>
              <a:rPr lang="en-US" sz="900" dirty="0">
                <a:solidFill>
                  <a:srgbClr val="6B7280"/>
                </a:solidFill>
              </a:rPr>
              <a:t>Yağız Efe Çiçekçisoy · Foundations &amp; Applications of AI · Assignment 1</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2-1.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85800"/>
            <a:ext cx="2651760" cy="411480"/>
          </a:xfrm>
          <a:prstGeom prst="roundRect">
            <a:avLst>
              <a:gd name="adj" fmla="val 48889"/>
            </a:avLst>
          </a:prstGeom>
          <a:solidFill>
            <a:srgbClr val="E76F51"/>
          </a:solidFill>
          <a:ln w="12700">
            <a:solidFill>
              <a:srgbClr val="E76F51"/>
            </a:solidFill>
            <a:prstDash val="solid"/>
          </a:ln>
        </p:spPr>
      </p:sp>
      <p:sp>
        <p:nvSpPr>
          <p:cNvPr id="3" name="Text 1"/>
          <p:cNvSpPr txBox="1"/>
          <p:nvPr/>
        </p:nvSpPr>
        <p:spPr>
          <a:xfrm>
            <a:off x="548640" y="685800"/>
            <a:ext cx="2651760" cy="411480"/>
          </a:xfrm>
          <a:prstGeom prst="rect">
            <a:avLst/>
          </a:prstGeom>
          <a:noFill/>
          <a:ln/>
        </p:spPr>
        <p:txBody>
          <a:bodyPr wrap="square" lIns="0" tIns="0" rIns="0" bIns="0" rtlCol="0" anchor="ctr"/>
          <a:lstStyle/>
          <a:p>
            <a:pPr algn="ctr" indent="0" marL="0">
              <a:buNone/>
            </a:pPr>
            <a:r>
              <a:rPr lang="en-US" sz="1400" b="1" dirty="0">
                <a:solidFill>
                  <a:srgbClr val="FFFFFF"/>
                </a:solidFill>
              </a:rPr>
              <a:t>Support Vector Machine</a:t>
            </a:r>
            <a:endParaRPr lang="en-US" sz="1400" dirty="0"/>
          </a:p>
        </p:txBody>
      </p:sp>
      <p:sp>
        <p:nvSpPr>
          <p:cNvPr id="4" name="Text 0"/>
          <p:cNvSpPr/>
          <p:nvPr>
            <p:ph idx="100" type="title" hasCustomPrompt="1"/>
          </p:nvPr>
        </p:nvSpPr>
        <p:spPr>
          <a:xfrm>
            <a:off x="548640" y="1234440"/>
            <a:ext cx="8046720" cy="1463040"/>
          </a:xfrm>
          <a:prstGeom prst="rect">
            <a:avLst/>
          </a:prstGeom>
          <a:noFill/>
          <a:ln/>
        </p:spPr>
        <p:txBody>
          <a:bodyPr wrap="square"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Linear SVM ile SMS Spam Tespiti</a:t>
            </a:r>
            <a:endParaRPr lang="en-US" sz="3800" dirty="0"/>
          </a:p>
        </p:txBody>
      </p:sp>
      <p:sp>
        <p:nvSpPr>
          <p:cNvPr id="5" name="Text 0"/>
          <p:cNvSpPr/>
          <p:nvPr>
            <p:ph idx="101" type="body" hasCustomPrompt="1"/>
          </p:nvPr>
        </p:nvSpPr>
        <p:spPr>
          <a:xfrm>
            <a:off x="548640" y="2880360"/>
            <a:ext cx="8046720" cy="1280160"/>
          </a:xfrm>
          <a:prstGeom prst="rect">
            <a:avLst/>
          </a:prstGeom>
          <a:noFill/>
          <a:ln/>
        </p:spPr>
        <p:txBody>
          <a:bodyPr wrap="square" rtlCol="0" anchor="t"/>
          <a:lstStyle/>
          <a:p>
            <a:pPr indent="0" marL="0">
              <a:buNone/>
            </a:pPr>
            <a:r>
              <a:rPr lang="en-US" sz="1600" b="1" dirty="0">
                <a:solidFill>
                  <a:srgbClr val="D1D5DB"/>
                </a:solidFill>
              </a:rPr>
              <a:t>Yağız Efe Çiçekçisoy</a:t>
            </a:r>
            <a:endParaRPr lang="en-US" sz="1600" dirty="0"/>
          </a:p>
          <a:p>
            <a:pPr indent="0" marL="0">
              <a:buNone/>
            </a:pPr>
            <a:r>
              <a:rPr lang="en-US" sz="1600" dirty="0">
                <a:solidFill>
                  <a:srgbClr val="D1D5DB"/>
                </a:solidFill>
              </a:rPr>
              <a:t>Foundations &amp; Applications of AI · Assignment 1</a:t>
            </a:r>
            <a:endParaRPr lang="en-US" sz="1600" dirty="0"/>
          </a:p>
          <a:p>
            <a:pPr indent="0" marL="0">
              <a:buNone/>
            </a:pPr>
            <a:r>
              <a:rPr lang="en-US" sz="1600" dirty="0">
                <a:solidFill>
                  <a:srgbClr val="D1D5DB"/>
                </a:solidFill>
              </a:rPr>
              <a:t>Ekim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Temel fikir: iki sınıfı en geniş boşlukla ayır</a:t>
            </a:r>
            <a:endParaRPr lang="en-US" sz="3000" dirty="0"/>
          </a:p>
        </p:txBody>
      </p:sp>
      <p:sp>
        <p:nvSpPr>
          <p:cNvPr id="3" name="adim"/>
          <p:cNvSpPr/>
          <p:nvPr/>
        </p:nvSpPr>
        <p:spPr>
          <a:xfrm>
            <a:off x="457200" y="1234440"/>
            <a:ext cx="1879092" cy="1143000"/>
          </a:xfrm>
          <a:prstGeom prst="roundRect">
            <a:avLst>
              <a:gd name="adj" fmla="val 9600"/>
            </a:avLst>
          </a:prstGeom>
          <a:solidFill>
            <a:srgbClr val="2A9D8F"/>
          </a:solidFill>
          <a:ln w="12700">
            <a:solidFill>
              <a:srgbClr val="2A9D8F"/>
            </a:solidFill>
            <a:prstDash val="solid"/>
          </a:ln>
        </p:spPr>
      </p:sp>
      <p:sp>
        <p:nvSpPr>
          <p:cNvPr id="4" name="Text 2"/>
          <p:cNvSpPr txBox="1"/>
          <p:nvPr/>
        </p:nvSpPr>
        <p:spPr>
          <a:xfrm>
            <a:off x="512064" y="1234440"/>
            <a:ext cx="1769364" cy="1143000"/>
          </a:xfrm>
          <a:prstGeom prst="rect">
            <a:avLst/>
          </a:prstGeom>
          <a:noFill/>
          <a:ln/>
        </p:spPr>
        <p:txBody>
          <a:bodyPr wrap="square" lIns="0" tIns="0" rIns="0" bIns="0" rtlCol="0" anchor="ctr"/>
          <a:lstStyle/>
          <a:p>
            <a:pPr algn="ctr" indent="0" marL="0">
              <a:buNone/>
            </a:pPr>
            <a:r>
              <a:rPr lang="en-US" sz="1300" b="1" dirty="0">
                <a:solidFill>
                  <a:srgbClr val="FFFFFF"/>
                </a:solidFill>
              </a:rPr>
              <a:t>SMS metni</a:t>
            </a:r>
            <a:endParaRPr lang="en-US" sz="1300" dirty="0"/>
          </a:p>
          <a:p>
            <a:pPr algn="ctr" indent="0" marL="0">
              <a:buNone/>
            </a:pPr>
            <a:r>
              <a:rPr lang="en-US" sz="1050" dirty="0">
                <a:solidFill>
                  <a:srgbClr val="FFFFFF"/>
                </a:solidFill>
              </a:rPr>
              <a:t>"WINNER! Claim your prize"</a:t>
            </a:r>
            <a:endParaRPr lang="en-US" sz="1300" dirty="0"/>
          </a:p>
        </p:txBody>
      </p:sp>
      <p:sp>
        <p:nvSpPr>
          <p:cNvPr id="5" name="Shape 3"/>
          <p:cNvSpPr/>
          <p:nvPr/>
        </p:nvSpPr>
        <p:spPr>
          <a:xfrm>
            <a:off x="2372868" y="1687068"/>
            <a:ext cx="164592" cy="237744"/>
          </a:xfrm>
          <a:prstGeom prst="rightArrow">
            <a:avLst/>
          </a:prstGeom>
          <a:solidFill>
            <a:srgbClr val="9CA3AF"/>
          </a:solidFill>
          <a:ln w="12700">
            <a:solidFill>
              <a:srgbClr val="9CA3AF"/>
            </a:solidFill>
            <a:prstDash val="solid"/>
          </a:ln>
        </p:spPr>
      </p:sp>
      <p:sp>
        <p:nvSpPr>
          <p:cNvPr id="6" name="adim"/>
          <p:cNvSpPr/>
          <p:nvPr/>
        </p:nvSpPr>
        <p:spPr>
          <a:xfrm>
            <a:off x="2574036" y="1234440"/>
            <a:ext cx="1879092" cy="1143000"/>
          </a:xfrm>
          <a:prstGeom prst="roundRect">
            <a:avLst>
              <a:gd name="adj" fmla="val 9600"/>
            </a:avLst>
          </a:prstGeom>
          <a:solidFill>
            <a:srgbClr val="264653"/>
          </a:solidFill>
          <a:ln w="12700">
            <a:solidFill>
              <a:srgbClr val="264653"/>
            </a:solidFill>
            <a:prstDash val="solid"/>
          </a:ln>
        </p:spPr>
      </p:sp>
      <p:sp>
        <p:nvSpPr>
          <p:cNvPr id="7" name="Text 5"/>
          <p:cNvSpPr txBox="1"/>
          <p:nvPr/>
        </p:nvSpPr>
        <p:spPr>
          <a:xfrm>
            <a:off x="2628900" y="1234440"/>
            <a:ext cx="1769364" cy="1143000"/>
          </a:xfrm>
          <a:prstGeom prst="rect">
            <a:avLst/>
          </a:prstGeom>
          <a:noFill/>
          <a:ln/>
        </p:spPr>
        <p:txBody>
          <a:bodyPr wrap="square" lIns="0" tIns="0" rIns="0" bIns="0" rtlCol="0" anchor="ctr"/>
          <a:lstStyle/>
          <a:p>
            <a:pPr algn="ctr" indent="0" marL="0">
              <a:buNone/>
            </a:pPr>
            <a:r>
              <a:rPr lang="en-US" sz="1300" b="1" dirty="0">
                <a:solidFill>
                  <a:srgbClr val="FFFFFF"/>
                </a:solidFill>
              </a:rPr>
              <a:t>TF-IDF</a:t>
            </a:r>
            <a:endParaRPr lang="en-US" sz="1300" dirty="0"/>
          </a:p>
          <a:p>
            <a:pPr algn="ctr" indent="0" marL="0">
              <a:buNone/>
            </a:pPr>
            <a:r>
              <a:rPr lang="en-US" sz="1050" dirty="0">
                <a:solidFill>
                  <a:srgbClr val="FFFFFF"/>
                </a:solidFill>
              </a:rPr>
              <a:t>metin → sayı vektörü</a:t>
            </a:r>
            <a:endParaRPr lang="en-US" sz="1300" dirty="0"/>
          </a:p>
        </p:txBody>
      </p:sp>
      <p:sp>
        <p:nvSpPr>
          <p:cNvPr id="8" name="Shape 6"/>
          <p:cNvSpPr/>
          <p:nvPr/>
        </p:nvSpPr>
        <p:spPr>
          <a:xfrm>
            <a:off x="4489704" y="1687068"/>
            <a:ext cx="164592" cy="237744"/>
          </a:xfrm>
          <a:prstGeom prst="rightArrow">
            <a:avLst/>
          </a:prstGeom>
          <a:solidFill>
            <a:srgbClr val="9CA3AF"/>
          </a:solidFill>
          <a:ln w="12700">
            <a:solidFill>
              <a:srgbClr val="9CA3AF"/>
            </a:solidFill>
            <a:prstDash val="solid"/>
          </a:ln>
        </p:spPr>
      </p:sp>
      <p:sp>
        <p:nvSpPr>
          <p:cNvPr id="9" name="adim"/>
          <p:cNvSpPr/>
          <p:nvPr/>
        </p:nvSpPr>
        <p:spPr>
          <a:xfrm>
            <a:off x="4690872" y="1234440"/>
            <a:ext cx="1879092" cy="1143000"/>
          </a:xfrm>
          <a:prstGeom prst="roundRect">
            <a:avLst>
              <a:gd name="adj" fmla="val 9600"/>
            </a:avLst>
          </a:prstGeom>
          <a:solidFill>
            <a:srgbClr val="E76F51"/>
          </a:solidFill>
          <a:ln w="12700">
            <a:solidFill>
              <a:srgbClr val="E76F51"/>
            </a:solidFill>
            <a:prstDash val="solid"/>
          </a:ln>
        </p:spPr>
      </p:sp>
      <p:sp>
        <p:nvSpPr>
          <p:cNvPr id="10" name="Text 8"/>
          <p:cNvSpPr txBox="1"/>
          <p:nvPr/>
        </p:nvSpPr>
        <p:spPr>
          <a:xfrm>
            <a:off x="4745736" y="1234440"/>
            <a:ext cx="1769364" cy="1143000"/>
          </a:xfrm>
          <a:prstGeom prst="rect">
            <a:avLst/>
          </a:prstGeom>
          <a:noFill/>
          <a:ln/>
        </p:spPr>
        <p:txBody>
          <a:bodyPr wrap="square" lIns="0" tIns="0" rIns="0" bIns="0" rtlCol="0" anchor="ctr"/>
          <a:lstStyle/>
          <a:p>
            <a:pPr algn="ctr" indent="0" marL="0">
              <a:buNone/>
            </a:pPr>
            <a:r>
              <a:rPr lang="en-US" sz="1300" b="1" dirty="0">
                <a:solidFill>
                  <a:srgbClr val="FFFFFF"/>
                </a:solidFill>
              </a:rPr>
              <a:t>Linear SVM</a:t>
            </a:r>
            <a:endParaRPr lang="en-US" sz="1300" dirty="0"/>
          </a:p>
          <a:p>
            <a:pPr algn="ctr" indent="0" marL="0">
              <a:buNone/>
            </a:pPr>
            <a:r>
              <a:rPr lang="en-US" sz="1050" dirty="0">
                <a:solidFill>
                  <a:srgbClr val="FFFFFF"/>
                </a:solidFill>
              </a:rPr>
              <a:t>f(x) = w·x + b</a:t>
            </a:r>
            <a:endParaRPr lang="en-US" sz="1300" dirty="0"/>
          </a:p>
        </p:txBody>
      </p:sp>
      <p:sp>
        <p:nvSpPr>
          <p:cNvPr id="11" name="Shape 9"/>
          <p:cNvSpPr/>
          <p:nvPr/>
        </p:nvSpPr>
        <p:spPr>
          <a:xfrm>
            <a:off x="6606540" y="1687068"/>
            <a:ext cx="164592" cy="237744"/>
          </a:xfrm>
          <a:prstGeom prst="rightArrow">
            <a:avLst/>
          </a:prstGeom>
          <a:solidFill>
            <a:srgbClr val="9CA3AF"/>
          </a:solidFill>
          <a:ln w="12700">
            <a:solidFill>
              <a:srgbClr val="9CA3AF"/>
            </a:solidFill>
            <a:prstDash val="solid"/>
          </a:ln>
        </p:spPr>
      </p:sp>
      <p:sp>
        <p:nvSpPr>
          <p:cNvPr id="12" name="adim"/>
          <p:cNvSpPr/>
          <p:nvPr/>
        </p:nvSpPr>
        <p:spPr>
          <a:xfrm>
            <a:off x="6807708" y="1234440"/>
            <a:ext cx="1879092" cy="1143000"/>
          </a:xfrm>
          <a:prstGeom prst="roundRect">
            <a:avLst>
              <a:gd name="adj" fmla="val 9600"/>
            </a:avLst>
          </a:prstGeom>
          <a:solidFill>
            <a:srgbClr val="1B2432"/>
          </a:solidFill>
          <a:ln w="12700">
            <a:solidFill>
              <a:srgbClr val="1B2432"/>
            </a:solidFill>
            <a:prstDash val="solid"/>
          </a:ln>
        </p:spPr>
      </p:sp>
      <p:sp>
        <p:nvSpPr>
          <p:cNvPr id="13" name="Text 11"/>
          <p:cNvSpPr txBox="1"/>
          <p:nvPr/>
        </p:nvSpPr>
        <p:spPr>
          <a:xfrm>
            <a:off x="6862572" y="1234440"/>
            <a:ext cx="1769364" cy="1143000"/>
          </a:xfrm>
          <a:prstGeom prst="rect">
            <a:avLst/>
          </a:prstGeom>
          <a:noFill/>
          <a:ln/>
        </p:spPr>
        <p:txBody>
          <a:bodyPr wrap="square" lIns="0" tIns="0" rIns="0" bIns="0" rtlCol="0" anchor="ctr"/>
          <a:lstStyle/>
          <a:p>
            <a:pPr algn="ctr" indent="0" marL="0">
              <a:buNone/>
            </a:pPr>
            <a:r>
              <a:rPr lang="en-US" sz="1300" b="1" dirty="0">
                <a:solidFill>
                  <a:srgbClr val="FFFFFF"/>
                </a:solidFill>
              </a:rPr>
              <a:t>Karar</a:t>
            </a:r>
            <a:endParaRPr lang="en-US" sz="1300" dirty="0"/>
          </a:p>
          <a:p>
            <a:pPr algn="ctr" indent="0" marL="0">
              <a:buNone/>
            </a:pPr>
            <a:r>
              <a:rPr lang="en-US" sz="1050" dirty="0">
                <a:solidFill>
                  <a:srgbClr val="FFFFFF"/>
                </a:solidFill>
              </a:rPr>
              <a:t>f(x) &gt; 0 → SPAM</a:t>
            </a:r>
            <a:endParaRPr lang="en-US" sz="1300" dirty="0"/>
          </a:p>
        </p:txBody>
      </p:sp>
      <p:pic>
        <p:nvPicPr>
          <p:cNvPr id="14" name="Image 0" descr="C:\Users\pc\AppData\Local\Temp\claude\C--Users-pc-Desktop-24-10-2026--devler\9e5358d5-cdd5-494c-8e75-6a17e77169ad\scratchpad\deck\fig\sms_svm_margin.png">    </p:cNvPr>
          <p:cNvPicPr>
            <a:picLocks noChangeAspect="1"/>
          </p:cNvPicPr>
          <p:nvPr/>
        </p:nvPicPr>
        <p:blipFill>
          <a:blip r:embed="rId1"/>
          <a:srcRect l="0" r="0" t="0" b="0"/>
          <a:stretch/>
        </p:blipFill>
        <p:spPr>
          <a:xfrm>
            <a:off x="457200" y="2606040"/>
            <a:ext cx="3840480" cy="2103120"/>
          </a:xfrm>
          <a:prstGeom prst="rect">
            <a:avLst/>
          </a:prstGeom>
        </p:spPr>
      </p:pic>
      <p:sp>
        <p:nvSpPr>
          <p:cNvPr id="15" name="Text 12"/>
          <p:cNvSpPr txBox="1"/>
          <p:nvPr/>
        </p:nvSpPr>
        <p:spPr>
          <a:xfrm>
            <a:off x="4572000" y="2743200"/>
            <a:ext cx="4114800" cy="1920240"/>
          </a:xfrm>
          <a:prstGeom prst="rect">
            <a:avLst/>
          </a:prstGeom>
          <a:noFill/>
          <a:ln/>
        </p:spPr>
        <p:txBody>
          <a:bodyPr wrap="square" lIns="0" tIns="0" rIns="0" bIns="0" rtlCol="0" anchor="t"/>
          <a:lstStyle/>
          <a:p>
            <a:pPr indent="0" marL="0">
              <a:buNone/>
            </a:pPr>
            <a:r>
              <a:rPr lang="en-US" sz="1400" b="1" dirty="0">
                <a:solidFill>
                  <a:srgbClr val="E76F51"/>
                </a:solidFill>
              </a:rPr>
              <a:t>Sezgi</a:t>
            </a:r>
            <a:endParaRPr lang="en-US" sz="1400" dirty="0"/>
          </a:p>
          <a:p>
            <a:pPr indent="0" marL="0">
              <a:buNone/>
            </a:pPr>
            <a:r>
              <a:rPr lang="en-US" sz="1400" dirty="0">
                <a:solidFill>
                  <a:srgbClr val="1F2937"/>
                </a:solidFill>
              </a:rPr>
              <a:t>Her mesaj binlerce boyutlu bir noktadır (her kelime bir boyut). SVM, spam ve normal mesajları ayıran düzlemlerden kenara en uzak olanı seçer. Sınıra en yakın birkaç mesaj (destek vektörleri) düzlemi belirler.</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Matematik: tek bir skor, tek bir amaç</a:t>
            </a:r>
            <a:endParaRPr lang="en-US" sz="3000" dirty="0"/>
          </a:p>
        </p:txBody>
      </p:sp>
      <p:sp>
        <p:nvSpPr>
          <p:cNvPr id="3" name="kart"/>
          <p:cNvSpPr/>
          <p:nvPr/>
        </p:nvSpPr>
        <p:spPr>
          <a:xfrm>
            <a:off x="457200" y="1097280"/>
            <a:ext cx="8229600" cy="1600200"/>
          </a:xfrm>
          <a:prstGeom prst="roundRect">
            <a:avLst>
              <a:gd name="adj" fmla="val 6857"/>
            </a:avLst>
          </a:prstGeom>
          <a:solidFill>
            <a:srgbClr val="F3F4F6"/>
          </a:solidFill>
          <a:ln w="12700">
            <a:solidFill>
              <a:srgbClr val="F3F4F6"/>
            </a:solidFill>
            <a:prstDash val="solid"/>
          </a:ln>
        </p:spPr>
      </p:sp>
      <p:sp>
        <p:nvSpPr>
          <p:cNvPr id="4" name="Text 2"/>
          <p:cNvSpPr txBox="1"/>
          <p:nvPr/>
        </p:nvSpPr>
        <p:spPr>
          <a:xfrm>
            <a:off x="685800" y="1234440"/>
            <a:ext cx="4206240" cy="320040"/>
          </a:xfrm>
          <a:prstGeom prst="rect">
            <a:avLst/>
          </a:prstGeom>
          <a:noFill/>
          <a:ln/>
        </p:spPr>
        <p:txBody>
          <a:bodyPr wrap="square" lIns="0" tIns="0" rIns="0" bIns="0" rtlCol="0" anchor="t"/>
          <a:lstStyle/>
          <a:p>
            <a:pPr indent="0" marL="0">
              <a:buNone/>
            </a:pPr>
            <a:r>
              <a:rPr lang="en-US" sz="1500" b="1" dirty="0">
                <a:solidFill>
                  <a:srgbClr val="E76F51"/>
                </a:solidFill>
              </a:rPr>
              <a:t>Mesajın skoru</a:t>
            </a:r>
            <a:endParaRPr lang="en-US" sz="1500" dirty="0"/>
          </a:p>
        </p:txBody>
      </p:sp>
      <p:pic>
        <p:nvPicPr>
          <p:cNvPr id="5" name="Image 0" descr="C:\Users\pc\AppData\Local\Temp\claude\C--Users-pc-Desktop-24-10-2026--devler\9e5358d5-cdd5-494c-8e75-6a17e77169ad\scratchpad\deck\fig\s_sms_score.png">    </p:cNvPr>
          <p:cNvPicPr>
            <a:picLocks noChangeAspect="1"/>
          </p:cNvPicPr>
          <p:nvPr/>
        </p:nvPicPr>
        <p:blipFill>
          <a:blip r:embed="rId1"/>
          <a:srcRect l="0" r="0" t="0" b="0"/>
          <a:stretch/>
        </p:blipFill>
        <p:spPr>
          <a:xfrm>
            <a:off x="685800" y="1645920"/>
            <a:ext cx="4023360" cy="868680"/>
          </a:xfrm>
          <a:prstGeom prst="rect">
            <a:avLst/>
          </a:prstGeom>
        </p:spPr>
      </p:pic>
      <p:sp>
        <p:nvSpPr>
          <p:cNvPr id="6" name="Text 3"/>
          <p:cNvSpPr txBox="1"/>
          <p:nvPr/>
        </p:nvSpPr>
        <p:spPr>
          <a:xfrm>
            <a:off x="5029200" y="1280160"/>
            <a:ext cx="3474720" cy="1234440"/>
          </a:xfrm>
          <a:prstGeom prst="rect">
            <a:avLst/>
          </a:prstGeom>
          <a:noFill/>
          <a:ln/>
        </p:spPr>
        <p:txBody>
          <a:bodyPr wrap="square" lIns="0" tIns="0" rIns="0" bIns="0" rtlCol="0" anchor="ctr"/>
          <a:lstStyle/>
          <a:p>
            <a:pPr indent="0" marL="0">
              <a:buNone/>
            </a:pPr>
            <a:r>
              <a:rPr lang="en-US" sz="1400" dirty="0">
                <a:solidFill>
                  <a:srgbClr val="1F2937"/>
                </a:solidFill>
              </a:rPr>
              <a:t>x: mesajın kelime vektörü (TF-IDF). Her kelimenin bir ağırlığı (w) var. Skor pozitifse spam, negatifse normal.</a:t>
            </a:r>
            <a:endParaRPr lang="en-US" sz="1400" dirty="0"/>
          </a:p>
        </p:txBody>
      </p:sp>
      <p:sp>
        <p:nvSpPr>
          <p:cNvPr id="7" name="kart"/>
          <p:cNvSpPr/>
          <p:nvPr/>
        </p:nvSpPr>
        <p:spPr>
          <a:xfrm>
            <a:off x="457200" y="2971800"/>
            <a:ext cx="8229600" cy="1600200"/>
          </a:xfrm>
          <a:prstGeom prst="roundRect">
            <a:avLst>
              <a:gd name="adj" fmla="val 6857"/>
            </a:avLst>
          </a:prstGeom>
          <a:solidFill>
            <a:srgbClr val="F3F4F6"/>
          </a:solidFill>
          <a:ln w="12700">
            <a:solidFill>
              <a:srgbClr val="F3F4F6"/>
            </a:solidFill>
            <a:prstDash val="solid"/>
          </a:ln>
        </p:spPr>
      </p:sp>
      <p:sp>
        <p:nvSpPr>
          <p:cNvPr id="8" name="Text 5"/>
          <p:cNvSpPr txBox="1"/>
          <p:nvPr/>
        </p:nvSpPr>
        <p:spPr>
          <a:xfrm>
            <a:off x="685800" y="3108960"/>
            <a:ext cx="4206240" cy="320040"/>
          </a:xfrm>
          <a:prstGeom prst="rect">
            <a:avLst/>
          </a:prstGeom>
          <a:noFill/>
          <a:ln/>
        </p:spPr>
        <p:txBody>
          <a:bodyPr wrap="square" lIns="0" tIns="0" rIns="0" bIns="0" rtlCol="0" anchor="t"/>
          <a:lstStyle/>
          <a:p>
            <a:pPr indent="0" marL="0">
              <a:buNone/>
            </a:pPr>
            <a:r>
              <a:rPr lang="en-US" sz="1500" b="1" dirty="0">
                <a:solidFill>
                  <a:srgbClr val="E76F51"/>
                </a:solidFill>
              </a:rPr>
              <a:t>Eğitimin amacı</a:t>
            </a:r>
            <a:endParaRPr lang="en-US" sz="1500" dirty="0"/>
          </a:p>
        </p:txBody>
      </p:sp>
      <p:pic>
        <p:nvPicPr>
          <p:cNvPr id="9" name="Image 1" descr="C:\Users\pc\AppData\Local\Temp\claude\C--Users-pc-Desktop-24-10-2026--devler\9e5358d5-cdd5-494c-8e75-6a17e77169ad\scratchpad\deck\fig\s_sms_obj.png">    </p:cNvPr>
          <p:cNvPicPr>
            <a:picLocks noChangeAspect="1"/>
          </p:cNvPicPr>
          <p:nvPr/>
        </p:nvPicPr>
        <p:blipFill>
          <a:blip r:embed="rId2"/>
          <a:srcRect l="0" r="0" t="0" b="0"/>
          <a:stretch/>
        </p:blipFill>
        <p:spPr>
          <a:xfrm>
            <a:off x="685800" y="3520440"/>
            <a:ext cx="4023360" cy="868680"/>
          </a:xfrm>
          <a:prstGeom prst="rect">
            <a:avLst/>
          </a:prstGeom>
        </p:spPr>
      </p:pic>
      <p:sp>
        <p:nvSpPr>
          <p:cNvPr id="10" name="Text 6"/>
          <p:cNvSpPr txBox="1"/>
          <p:nvPr/>
        </p:nvSpPr>
        <p:spPr>
          <a:xfrm>
            <a:off x="5029200" y="3154680"/>
            <a:ext cx="3474720" cy="1234440"/>
          </a:xfrm>
          <a:prstGeom prst="rect">
            <a:avLst/>
          </a:prstGeom>
          <a:noFill/>
          <a:ln/>
        </p:spPr>
        <p:txBody>
          <a:bodyPr wrap="square" lIns="0" tIns="0" rIns="0" bIns="0" rtlCol="0" anchor="ctr"/>
          <a:lstStyle/>
          <a:p>
            <a:pPr indent="0" marL="0">
              <a:buNone/>
            </a:pPr>
            <a:r>
              <a:rPr lang="en-US" sz="1400" dirty="0">
                <a:solidFill>
                  <a:srgbClr val="1F2937"/>
                </a:solidFill>
              </a:rPr>
              <a:t>Sınıflar arasındaki boşluğu (marj) büyüt, ama yanlış taraftaki mesajları da cezalandır. C bu ikisini dengeler.</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Görsel örnek: marj</a:t>
            </a:r>
            <a:endParaRPr lang="en-US" sz="3000" dirty="0"/>
          </a:p>
        </p:txBody>
      </p:sp>
      <p:pic>
        <p:nvPicPr>
          <p:cNvPr id="3" name="Image 0" descr="C:\Users\pc\AppData\Local\Temp\claude\C--Users-pc-Desktop-24-10-2026--devler\9e5358d5-cdd5-494c-8e75-6a17e77169ad\scratchpad\deck\fig\sms_svm_margin.png">    </p:cNvPr>
          <p:cNvPicPr>
            <a:picLocks noChangeAspect="1"/>
          </p:cNvPicPr>
          <p:nvPr/>
        </p:nvPicPr>
        <p:blipFill>
          <a:blip r:embed="rId1"/>
          <a:srcRect l="0" r="0" t="0" b="0"/>
          <a:stretch/>
        </p:blipFill>
        <p:spPr>
          <a:xfrm>
            <a:off x="457200" y="1005840"/>
            <a:ext cx="4572000" cy="3611880"/>
          </a:xfrm>
          <a:prstGeom prst="rect">
            <a:avLst/>
          </a:prstGeom>
        </p:spPr>
      </p:pic>
      <p:sp>
        <p:nvSpPr>
          <p:cNvPr id="4" name="kart"/>
          <p:cNvSpPr/>
          <p:nvPr/>
        </p:nvSpPr>
        <p:spPr>
          <a:xfrm>
            <a:off x="5303520" y="1097280"/>
            <a:ext cx="3383280" cy="3520440"/>
          </a:xfrm>
          <a:prstGeom prst="roundRect">
            <a:avLst>
              <a:gd name="adj" fmla="val 3243"/>
            </a:avLst>
          </a:prstGeom>
          <a:solidFill>
            <a:srgbClr val="F3F4F6"/>
          </a:solidFill>
          <a:ln w="12700">
            <a:solidFill>
              <a:srgbClr val="F3F4F6"/>
            </a:solidFill>
            <a:prstDash val="solid"/>
          </a:ln>
        </p:spPr>
      </p:sp>
      <p:sp>
        <p:nvSpPr>
          <p:cNvPr id="5" name="Text 2"/>
          <p:cNvSpPr txBox="1"/>
          <p:nvPr/>
        </p:nvSpPr>
        <p:spPr>
          <a:xfrm>
            <a:off x="5486400" y="1280160"/>
            <a:ext cx="3063240" cy="3200400"/>
          </a:xfrm>
          <a:prstGeom prst="rect">
            <a:avLst/>
          </a:prstGeom>
          <a:noFill/>
          <a:ln/>
        </p:spPr>
        <p:txBody>
          <a:bodyPr wrap="square" lIns="0" tIns="0" rIns="0" bIns="0" rtlCol="0" anchor="t"/>
          <a:lstStyle/>
          <a:p>
            <a:pPr indent="0" marL="0">
              <a:spcAft>
                <a:spcPts val="800"/>
              </a:spcAft>
              <a:buNone/>
            </a:pPr>
            <a:r>
              <a:rPr lang="en-US" sz="1400" b="1" dirty="0">
                <a:solidFill>
                  <a:srgbClr val="E76F51"/>
                </a:solidFill>
              </a:rPr>
              <a:t>Grafiği okumak</a:t>
            </a:r>
            <a:endParaRPr lang="en-US" sz="1400" dirty="0"/>
          </a:p>
          <a:p>
            <a:pPr marL="342900" indent="-342900">
              <a:spcAft>
                <a:spcPts val="800"/>
              </a:spcAft>
              <a:buSzPct val="100000"/>
              <a:buChar char="•"/>
            </a:pPr>
            <a:r>
              <a:rPr lang="en-US" sz="1400" dirty="0">
                <a:solidFill>
                  <a:srgbClr val="1F2937"/>
                </a:solidFill>
              </a:rPr>
              <a:t>Kalın çizgi: karar sınırı</a:t>
            </a:r>
            <a:endParaRPr lang="en-US" sz="1400" dirty="0"/>
          </a:p>
          <a:p>
            <a:pPr marL="342900" indent="-342900">
              <a:spcAft>
                <a:spcPts val="800"/>
              </a:spcAft>
              <a:buSzPct val="100000"/>
              <a:buChar char="•"/>
            </a:pPr>
            <a:r>
              <a:rPr lang="en-US" sz="1400" dirty="0">
                <a:solidFill>
                  <a:srgbClr val="1F2937"/>
                </a:solidFill>
              </a:rPr>
              <a:t>Kesikli çizgiler arası: marj</a:t>
            </a:r>
            <a:endParaRPr lang="en-US" sz="1400" dirty="0"/>
          </a:p>
          <a:p>
            <a:pPr marL="342900" indent="-342900">
              <a:spcAft>
                <a:spcPts val="800"/>
              </a:spcAft>
              <a:buSzPct val="100000"/>
              <a:buChar char="•"/>
            </a:pPr>
            <a:r>
              <a:rPr lang="en-US" sz="1400" dirty="0">
                <a:solidFill>
                  <a:srgbClr val="1F2937"/>
                </a:solidFill>
              </a:rPr>
              <a:t>Halkalı noktalar: sınırı belirleyen destek vektörleri</a:t>
            </a:r>
            <a:endParaRPr lang="en-US" sz="1400" dirty="0"/>
          </a:p>
          <a:p>
            <a:pPr marL="342900" indent="-342900">
              <a:spcAft>
                <a:spcPts val="800"/>
              </a:spcAft>
              <a:buSzPct val="100000"/>
              <a:buChar char="•"/>
            </a:pPr>
            <a:r>
              <a:rPr lang="en-US" sz="1400" dirty="0">
                <a:solidFill>
                  <a:srgbClr val="1F2937"/>
                </a:solidFill>
              </a:rPr>
              <a:t>Uzaktaki mesajlar sınırı etkilemez</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Eğitim süreci</a:t>
            </a:r>
            <a:endParaRPr lang="en-US" sz="3000" dirty="0"/>
          </a:p>
        </p:txBody>
      </p:sp>
      <p:sp>
        <p:nvSpPr>
          <p:cNvPr id="3" name="adim"/>
          <p:cNvSpPr/>
          <p:nvPr/>
        </p:nvSpPr>
        <p:spPr>
          <a:xfrm>
            <a:off x="457200" y="1188720"/>
            <a:ext cx="1455725" cy="1051560"/>
          </a:xfrm>
          <a:prstGeom prst="roundRect">
            <a:avLst>
              <a:gd name="adj" fmla="val 10435"/>
            </a:avLst>
          </a:prstGeom>
          <a:solidFill>
            <a:srgbClr val="2A9D8F"/>
          </a:solidFill>
          <a:ln w="12700">
            <a:solidFill>
              <a:srgbClr val="2A9D8F"/>
            </a:solidFill>
            <a:prstDash val="solid"/>
          </a:ln>
        </p:spPr>
      </p:sp>
      <p:sp>
        <p:nvSpPr>
          <p:cNvPr id="4" name="Text 2"/>
          <p:cNvSpPr txBox="1"/>
          <p:nvPr/>
        </p:nvSpPr>
        <p:spPr>
          <a:xfrm>
            <a:off x="512064" y="1188720"/>
            <a:ext cx="1345997" cy="1051560"/>
          </a:xfrm>
          <a:prstGeom prst="rect">
            <a:avLst/>
          </a:prstGeom>
          <a:noFill/>
          <a:ln/>
        </p:spPr>
        <p:txBody>
          <a:bodyPr wrap="square" lIns="0" tIns="0" rIns="0" bIns="0" rtlCol="0" anchor="ctr"/>
          <a:lstStyle/>
          <a:p>
            <a:pPr algn="ctr" indent="0" marL="0">
              <a:buNone/>
            </a:pPr>
            <a:r>
              <a:rPr lang="en-US" sz="1300" b="1" dirty="0">
                <a:solidFill>
                  <a:srgbClr val="FFFFFF"/>
                </a:solidFill>
              </a:rPr>
              <a:t>Temizlik</a:t>
            </a:r>
            <a:endParaRPr lang="en-US" sz="1300" dirty="0"/>
          </a:p>
          <a:p>
            <a:pPr algn="ctr" indent="0" marL="0">
              <a:buNone/>
            </a:pPr>
            <a:r>
              <a:rPr lang="en-US" sz="1050" dirty="0">
                <a:solidFill>
                  <a:srgbClr val="FFFFFF"/>
                </a:solidFill>
              </a:rPr>
              <a:t>5.574 → 5.171 mesaj</a:t>
            </a:r>
            <a:endParaRPr lang="en-US" sz="1300" dirty="0"/>
          </a:p>
        </p:txBody>
      </p:sp>
      <p:sp>
        <p:nvSpPr>
          <p:cNvPr id="5" name="Shape 3"/>
          <p:cNvSpPr/>
          <p:nvPr/>
        </p:nvSpPr>
        <p:spPr>
          <a:xfrm>
            <a:off x="1949501" y="1595628"/>
            <a:ext cx="164592" cy="237744"/>
          </a:xfrm>
          <a:prstGeom prst="rightArrow">
            <a:avLst/>
          </a:prstGeom>
          <a:solidFill>
            <a:srgbClr val="9CA3AF"/>
          </a:solidFill>
          <a:ln w="12700">
            <a:solidFill>
              <a:srgbClr val="9CA3AF"/>
            </a:solidFill>
            <a:prstDash val="solid"/>
          </a:ln>
        </p:spPr>
      </p:sp>
      <p:sp>
        <p:nvSpPr>
          <p:cNvPr id="6" name="adim"/>
          <p:cNvSpPr/>
          <p:nvPr/>
        </p:nvSpPr>
        <p:spPr>
          <a:xfrm>
            <a:off x="2150669" y="1188720"/>
            <a:ext cx="1455725" cy="1051560"/>
          </a:xfrm>
          <a:prstGeom prst="roundRect">
            <a:avLst>
              <a:gd name="adj" fmla="val 10435"/>
            </a:avLst>
          </a:prstGeom>
          <a:solidFill>
            <a:srgbClr val="264653"/>
          </a:solidFill>
          <a:ln w="12700">
            <a:solidFill>
              <a:srgbClr val="264653"/>
            </a:solidFill>
            <a:prstDash val="solid"/>
          </a:ln>
        </p:spPr>
      </p:sp>
      <p:sp>
        <p:nvSpPr>
          <p:cNvPr id="7" name="Text 5"/>
          <p:cNvSpPr txBox="1"/>
          <p:nvPr/>
        </p:nvSpPr>
        <p:spPr>
          <a:xfrm>
            <a:off x="2205533" y="1188720"/>
            <a:ext cx="1345997" cy="1051560"/>
          </a:xfrm>
          <a:prstGeom prst="rect">
            <a:avLst/>
          </a:prstGeom>
          <a:noFill/>
          <a:ln/>
        </p:spPr>
        <p:txBody>
          <a:bodyPr wrap="square" lIns="0" tIns="0" rIns="0" bIns="0" rtlCol="0" anchor="ctr"/>
          <a:lstStyle/>
          <a:p>
            <a:pPr algn="ctr" indent="0" marL="0">
              <a:buNone/>
            </a:pPr>
            <a:r>
              <a:rPr lang="en-US" sz="1300" b="1" dirty="0">
                <a:solidFill>
                  <a:srgbClr val="FFFFFF"/>
                </a:solidFill>
              </a:rPr>
              <a:t>Ayrım</a:t>
            </a:r>
            <a:endParaRPr lang="en-US" sz="1300" dirty="0"/>
          </a:p>
          <a:p>
            <a:pPr algn="ctr" indent="0" marL="0">
              <a:buNone/>
            </a:pPr>
            <a:r>
              <a:rPr lang="en-US" sz="1050" dirty="0">
                <a:solidFill>
                  <a:srgbClr val="FFFFFF"/>
                </a:solidFill>
              </a:rPr>
              <a:t>%80 eğitim / %20 test</a:t>
            </a:r>
            <a:endParaRPr lang="en-US" sz="1300" dirty="0"/>
          </a:p>
        </p:txBody>
      </p:sp>
      <p:sp>
        <p:nvSpPr>
          <p:cNvPr id="8" name="Shape 6"/>
          <p:cNvSpPr/>
          <p:nvPr/>
        </p:nvSpPr>
        <p:spPr>
          <a:xfrm>
            <a:off x="3642970" y="1595628"/>
            <a:ext cx="164592" cy="237744"/>
          </a:xfrm>
          <a:prstGeom prst="rightArrow">
            <a:avLst/>
          </a:prstGeom>
          <a:solidFill>
            <a:srgbClr val="9CA3AF"/>
          </a:solidFill>
          <a:ln w="12700">
            <a:solidFill>
              <a:srgbClr val="9CA3AF"/>
            </a:solidFill>
            <a:prstDash val="solid"/>
          </a:ln>
        </p:spPr>
      </p:sp>
      <p:sp>
        <p:nvSpPr>
          <p:cNvPr id="9" name="adim"/>
          <p:cNvSpPr/>
          <p:nvPr/>
        </p:nvSpPr>
        <p:spPr>
          <a:xfrm>
            <a:off x="3844138" y="1188720"/>
            <a:ext cx="1455725" cy="1051560"/>
          </a:xfrm>
          <a:prstGeom prst="roundRect">
            <a:avLst>
              <a:gd name="adj" fmla="val 10435"/>
            </a:avLst>
          </a:prstGeom>
          <a:solidFill>
            <a:srgbClr val="E76F51"/>
          </a:solidFill>
          <a:ln w="12700">
            <a:solidFill>
              <a:srgbClr val="E76F51"/>
            </a:solidFill>
            <a:prstDash val="solid"/>
          </a:ln>
        </p:spPr>
      </p:sp>
      <p:sp>
        <p:nvSpPr>
          <p:cNvPr id="10" name="Text 8"/>
          <p:cNvSpPr txBox="1"/>
          <p:nvPr/>
        </p:nvSpPr>
        <p:spPr>
          <a:xfrm>
            <a:off x="3899002" y="1188720"/>
            <a:ext cx="1345997" cy="1051560"/>
          </a:xfrm>
          <a:prstGeom prst="rect">
            <a:avLst/>
          </a:prstGeom>
          <a:noFill/>
          <a:ln/>
        </p:spPr>
        <p:txBody>
          <a:bodyPr wrap="square" lIns="0" tIns="0" rIns="0" bIns="0" rtlCol="0" anchor="ctr"/>
          <a:lstStyle/>
          <a:p>
            <a:pPr algn="ctr" indent="0" marL="0">
              <a:buNone/>
            </a:pPr>
            <a:r>
              <a:rPr lang="en-US" sz="1300" b="1" dirty="0">
                <a:solidFill>
                  <a:srgbClr val="FFFFFF"/>
                </a:solidFill>
              </a:rPr>
              <a:t>Ayar araması</a:t>
            </a:r>
            <a:endParaRPr lang="en-US" sz="1300" dirty="0"/>
          </a:p>
          <a:p>
            <a:pPr algn="ctr" indent="0" marL="0">
              <a:buNone/>
            </a:pPr>
            <a:r>
              <a:rPr lang="en-US" sz="1050" dirty="0">
                <a:solidFill>
                  <a:srgbClr val="FFFFFF"/>
                </a:solidFill>
              </a:rPr>
              <a:t>3 model × ayarlar, 5-katlı CV</a:t>
            </a:r>
            <a:endParaRPr lang="en-US" sz="1300" dirty="0"/>
          </a:p>
        </p:txBody>
      </p:sp>
      <p:sp>
        <p:nvSpPr>
          <p:cNvPr id="11" name="Shape 9"/>
          <p:cNvSpPr/>
          <p:nvPr/>
        </p:nvSpPr>
        <p:spPr>
          <a:xfrm>
            <a:off x="5336438" y="1595628"/>
            <a:ext cx="164592" cy="237744"/>
          </a:xfrm>
          <a:prstGeom prst="rightArrow">
            <a:avLst/>
          </a:prstGeom>
          <a:solidFill>
            <a:srgbClr val="9CA3AF"/>
          </a:solidFill>
          <a:ln w="12700">
            <a:solidFill>
              <a:srgbClr val="9CA3AF"/>
            </a:solidFill>
            <a:prstDash val="solid"/>
          </a:ln>
        </p:spPr>
      </p:sp>
      <p:sp>
        <p:nvSpPr>
          <p:cNvPr id="12" name="adim"/>
          <p:cNvSpPr/>
          <p:nvPr/>
        </p:nvSpPr>
        <p:spPr>
          <a:xfrm>
            <a:off x="5537606" y="1188720"/>
            <a:ext cx="1455725" cy="1051560"/>
          </a:xfrm>
          <a:prstGeom prst="roundRect">
            <a:avLst>
              <a:gd name="adj" fmla="val 10435"/>
            </a:avLst>
          </a:prstGeom>
          <a:solidFill>
            <a:srgbClr val="1B2432"/>
          </a:solidFill>
          <a:ln w="12700">
            <a:solidFill>
              <a:srgbClr val="1B2432"/>
            </a:solidFill>
            <a:prstDash val="solid"/>
          </a:ln>
        </p:spPr>
      </p:sp>
      <p:sp>
        <p:nvSpPr>
          <p:cNvPr id="13" name="Text 11"/>
          <p:cNvSpPr txBox="1"/>
          <p:nvPr/>
        </p:nvSpPr>
        <p:spPr>
          <a:xfrm>
            <a:off x="5592470" y="1188720"/>
            <a:ext cx="1345997" cy="1051560"/>
          </a:xfrm>
          <a:prstGeom prst="rect">
            <a:avLst/>
          </a:prstGeom>
          <a:noFill/>
          <a:ln/>
        </p:spPr>
        <p:txBody>
          <a:bodyPr wrap="square" lIns="0" tIns="0" rIns="0" bIns="0" rtlCol="0" anchor="ctr"/>
          <a:lstStyle/>
          <a:p>
            <a:pPr algn="ctr" indent="0" marL="0">
              <a:buNone/>
            </a:pPr>
            <a:r>
              <a:rPr lang="en-US" sz="1300" b="1" dirty="0">
                <a:solidFill>
                  <a:srgbClr val="FFFFFF"/>
                </a:solidFill>
              </a:rPr>
              <a:t>Seçim</a:t>
            </a:r>
            <a:endParaRPr lang="en-US" sz="1300" dirty="0"/>
          </a:p>
          <a:p>
            <a:pPr algn="ctr" indent="0" marL="0">
              <a:buNone/>
            </a:pPr>
            <a:r>
              <a:rPr lang="en-US" sz="1050" dirty="0">
                <a:solidFill>
                  <a:srgbClr val="FFFFFF"/>
                </a:solidFill>
              </a:rPr>
              <a:t>en yüksek CV spam F1</a:t>
            </a:r>
            <a:endParaRPr lang="en-US" sz="1300" dirty="0"/>
          </a:p>
        </p:txBody>
      </p:sp>
      <p:sp>
        <p:nvSpPr>
          <p:cNvPr id="14" name="Shape 12"/>
          <p:cNvSpPr/>
          <p:nvPr/>
        </p:nvSpPr>
        <p:spPr>
          <a:xfrm>
            <a:off x="7029907" y="1595628"/>
            <a:ext cx="164592" cy="237744"/>
          </a:xfrm>
          <a:prstGeom prst="rightArrow">
            <a:avLst/>
          </a:prstGeom>
          <a:solidFill>
            <a:srgbClr val="9CA3AF"/>
          </a:solidFill>
          <a:ln w="12700">
            <a:solidFill>
              <a:srgbClr val="9CA3AF"/>
            </a:solidFill>
            <a:prstDash val="solid"/>
          </a:ln>
        </p:spPr>
      </p:sp>
      <p:sp>
        <p:nvSpPr>
          <p:cNvPr id="15" name="adim"/>
          <p:cNvSpPr/>
          <p:nvPr/>
        </p:nvSpPr>
        <p:spPr>
          <a:xfrm>
            <a:off x="7231075" y="1188720"/>
            <a:ext cx="1455725" cy="1051560"/>
          </a:xfrm>
          <a:prstGeom prst="roundRect">
            <a:avLst>
              <a:gd name="adj" fmla="val 10435"/>
            </a:avLst>
          </a:prstGeom>
          <a:solidFill>
            <a:srgbClr val="6B7280"/>
          </a:solidFill>
          <a:ln w="12700">
            <a:solidFill>
              <a:srgbClr val="6B7280"/>
            </a:solidFill>
            <a:prstDash val="solid"/>
          </a:ln>
        </p:spPr>
      </p:sp>
      <p:sp>
        <p:nvSpPr>
          <p:cNvPr id="16" name="Text 14"/>
          <p:cNvSpPr txBox="1"/>
          <p:nvPr/>
        </p:nvSpPr>
        <p:spPr>
          <a:xfrm>
            <a:off x="7285939" y="1188720"/>
            <a:ext cx="1345997" cy="1051560"/>
          </a:xfrm>
          <a:prstGeom prst="rect">
            <a:avLst/>
          </a:prstGeom>
          <a:noFill/>
          <a:ln/>
        </p:spPr>
        <p:txBody>
          <a:bodyPr wrap="square" lIns="0" tIns="0" rIns="0" bIns="0" rtlCol="0" anchor="ctr"/>
          <a:lstStyle/>
          <a:p>
            <a:pPr algn="ctr" indent="0" marL="0">
              <a:buNone/>
            </a:pPr>
            <a:r>
              <a:rPr lang="en-US" sz="1300" b="1" dirty="0">
                <a:solidFill>
                  <a:srgbClr val="FFFFFF"/>
                </a:solidFill>
              </a:rPr>
              <a:t>Test</a:t>
            </a:r>
            <a:endParaRPr lang="en-US" sz="1300" dirty="0"/>
          </a:p>
          <a:p>
            <a:pPr algn="ctr" indent="0" marL="0">
              <a:buNone/>
            </a:pPr>
            <a:r>
              <a:rPr lang="en-US" sz="1050" dirty="0">
                <a:solidFill>
                  <a:srgbClr val="FFFFFF"/>
                </a:solidFill>
              </a:rPr>
              <a:t>tek sefer, en sonda</a:t>
            </a:r>
            <a:endParaRPr lang="en-US" sz="1300" dirty="0"/>
          </a:p>
        </p:txBody>
      </p:sp>
      <p:sp>
        <p:nvSpPr>
          <p:cNvPr id="17" name="kart"/>
          <p:cNvSpPr/>
          <p:nvPr/>
        </p:nvSpPr>
        <p:spPr>
          <a:xfrm>
            <a:off x="457200" y="2514600"/>
            <a:ext cx="3977640" cy="2103120"/>
          </a:xfrm>
          <a:prstGeom prst="roundRect">
            <a:avLst>
              <a:gd name="adj" fmla="val 5217"/>
            </a:avLst>
          </a:prstGeom>
          <a:solidFill>
            <a:srgbClr val="F3F4F6"/>
          </a:solidFill>
          <a:ln w="12700">
            <a:solidFill>
              <a:srgbClr val="F3F4F6"/>
            </a:solidFill>
            <a:prstDash val="solid"/>
          </a:ln>
        </p:spPr>
      </p:sp>
      <p:sp>
        <p:nvSpPr>
          <p:cNvPr id="18" name="Text 16"/>
          <p:cNvSpPr txBox="1"/>
          <p:nvPr/>
        </p:nvSpPr>
        <p:spPr>
          <a:xfrm>
            <a:off x="640080" y="2651760"/>
            <a:ext cx="3611880" cy="1874520"/>
          </a:xfrm>
          <a:prstGeom prst="rect">
            <a:avLst/>
          </a:prstGeom>
          <a:noFill/>
          <a:ln/>
        </p:spPr>
        <p:txBody>
          <a:bodyPr wrap="square" lIns="0" tIns="0" rIns="0" bIns="0" rtlCol="0" anchor="t"/>
          <a:lstStyle/>
          <a:p>
            <a:pPr indent="0" marL="0">
              <a:buNone/>
            </a:pPr>
            <a:r>
              <a:rPr lang="en-US" sz="1300" b="1" dirty="0">
                <a:solidFill>
                  <a:srgbClr val="E76F51"/>
                </a:solidFill>
              </a:rPr>
              <a:t>Nasıl öğreniyor?</a:t>
            </a:r>
            <a:endParaRPr lang="en-US" sz="1300" dirty="0"/>
          </a:p>
          <a:p>
            <a:pPr indent="0" marL="0">
              <a:buNone/>
            </a:pPr>
            <a:r>
              <a:rPr lang="en-US" sz="1300" dirty="0">
                <a:solidFill>
                  <a:srgbClr val="1F2937"/>
                </a:solidFill>
              </a:rPr>
              <a:t>LinearSVC (liblinear), amaç fonksiyonunu koordinat inişi ile çözer: her adımda bir ağırlığı güncelleyip kaybı azaltır. TF-IDF her CV katında sadece o katın eğitim parçasında öğrenilir.</a:t>
            </a:r>
            <a:endParaRPr lang="en-US" sz="1300" dirty="0"/>
          </a:p>
        </p:txBody>
      </p:sp>
      <p:sp>
        <p:nvSpPr>
          <p:cNvPr id="19" name="kart"/>
          <p:cNvSpPr/>
          <p:nvPr/>
        </p:nvSpPr>
        <p:spPr>
          <a:xfrm>
            <a:off x="4709160" y="2514600"/>
            <a:ext cx="3977640" cy="2103120"/>
          </a:xfrm>
          <a:prstGeom prst="roundRect">
            <a:avLst>
              <a:gd name="adj" fmla="val 5217"/>
            </a:avLst>
          </a:prstGeom>
          <a:solidFill>
            <a:srgbClr val="F3F4F6"/>
          </a:solidFill>
          <a:ln w="12700">
            <a:solidFill>
              <a:srgbClr val="F3F4F6"/>
            </a:solidFill>
            <a:prstDash val="solid"/>
          </a:ln>
        </p:spPr>
      </p:sp>
      <p:sp>
        <p:nvSpPr>
          <p:cNvPr id="20" name="Text 18"/>
          <p:cNvSpPr txBox="1"/>
          <p:nvPr/>
        </p:nvSpPr>
        <p:spPr>
          <a:xfrm>
            <a:off x="4892040" y="2651760"/>
            <a:ext cx="3611880" cy="1874520"/>
          </a:xfrm>
          <a:prstGeom prst="rect">
            <a:avLst/>
          </a:prstGeom>
          <a:noFill/>
          <a:ln/>
        </p:spPr>
        <p:txBody>
          <a:bodyPr wrap="square" lIns="0" tIns="0" rIns="0" bIns="0" rtlCol="0" anchor="t"/>
          <a:lstStyle/>
          <a:p>
            <a:pPr indent="0" marL="0">
              <a:spcAft>
                <a:spcPts val="300"/>
              </a:spcAft>
              <a:buNone/>
            </a:pPr>
            <a:r>
              <a:rPr lang="en-US" sz="1300" b="1" dirty="0">
                <a:solidFill>
                  <a:srgbClr val="E76F51"/>
                </a:solidFill>
              </a:rPr>
              <a:t>Denenen ayarlar</a:t>
            </a:r>
            <a:endParaRPr lang="en-US" sz="1300" dirty="0"/>
          </a:p>
          <a:p>
            <a:pPr marL="342900" indent="-342900">
              <a:spcAft>
                <a:spcPts val="300"/>
              </a:spcAft>
              <a:buSzPct val="100000"/>
              <a:buChar char="•"/>
            </a:pPr>
            <a:r>
              <a:rPr lang="en-US" sz="1300" dirty="0">
                <a:solidFill>
                  <a:srgbClr val="1F2937"/>
                </a:solidFill>
              </a:rPr>
              <a:t>Naive Bayes: alpha 0.001 – 1</a:t>
            </a:r>
            <a:endParaRPr lang="en-US" sz="1300" dirty="0"/>
          </a:p>
          <a:p>
            <a:pPr marL="342900" indent="-342900">
              <a:spcAft>
                <a:spcPts val="300"/>
              </a:spcAft>
              <a:buSzPct val="100000"/>
              <a:buChar char="•"/>
            </a:pPr>
            <a:r>
              <a:rPr lang="en-US" sz="1300" dirty="0">
                <a:solidFill>
                  <a:srgbClr val="1F2937"/>
                </a:solidFill>
              </a:rPr>
              <a:t>Logistic Regression: C 1 – 1000</a:t>
            </a:r>
            <a:endParaRPr lang="en-US" sz="1300" dirty="0"/>
          </a:p>
          <a:p>
            <a:pPr marL="342900" indent="-342900">
              <a:spcAft>
                <a:spcPts val="300"/>
              </a:spcAft>
              <a:buSzPct val="100000"/>
              <a:buChar char="•"/>
            </a:pPr>
            <a:r>
              <a:rPr lang="en-US" sz="1300" dirty="0">
                <a:solidFill>
                  <a:srgbClr val="1F2937"/>
                </a:solidFill>
              </a:rPr>
              <a:t>Linear SVM: C 0.1 – 10</a:t>
            </a:r>
            <a:endParaRPr lang="en-US" sz="1300" dirty="0"/>
          </a:p>
          <a:p>
            <a:pPr marL="342900" indent="-342900">
              <a:spcAft>
                <a:spcPts val="300"/>
              </a:spcAft>
              <a:buSzPct val="100000"/>
              <a:buChar char="•"/>
            </a:pPr>
            <a:r>
              <a:rPr lang="en-US" sz="1300" dirty="0">
                <a:solidFill>
                  <a:srgbClr val="1F2937"/>
                </a:solidFill>
              </a:rPr>
              <a:t>Hepsinde: kelime / kelime+bigram, sınıf ağırlığı</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Tahmin: hangi kelimeler spam'e iter?</a:t>
            </a:r>
            <a:endParaRPr lang="en-US" sz="3000" dirty="0"/>
          </a:p>
        </p:txBody>
      </p:sp>
      <p:pic>
        <p:nvPicPr>
          <p:cNvPr id="3" name="Image 0" descr="C:\Users\pc\AppData\Local\Temp\claude\C--Users-pc-Desktop-24-10-2026--devler\9e5358d5-cdd5-494c-8e75-6a17e77169ad\scratchpad\deck\fig\sms_top_words.png">    </p:cNvPr>
          <p:cNvPicPr>
            <a:picLocks noChangeAspect="1"/>
          </p:cNvPicPr>
          <p:nvPr/>
        </p:nvPicPr>
        <p:blipFill>
          <a:blip r:embed="rId1"/>
          <a:srcRect l="0" r="0" t="0" b="0"/>
          <a:stretch/>
        </p:blipFill>
        <p:spPr>
          <a:xfrm>
            <a:off x="457200" y="1005840"/>
            <a:ext cx="5120640" cy="3291840"/>
          </a:xfrm>
          <a:prstGeom prst="rect">
            <a:avLst/>
          </a:prstGeom>
        </p:spPr>
      </p:pic>
      <p:pic>
        <p:nvPicPr>
          <p:cNvPr id="4" name="Image 1" descr="C:\Users\pc\AppData\Local\Temp\claude\C--Users-pc-Desktop-24-10-2026--devler\9e5358d5-cdd5-494c-8e75-6a17e77169ad\scratchpad\deck\fig\sms_f_predict.png">    </p:cNvPr>
          <p:cNvPicPr>
            <a:picLocks noChangeAspect="1"/>
          </p:cNvPicPr>
          <p:nvPr/>
        </p:nvPicPr>
        <p:blipFill>
          <a:blip r:embed="rId2"/>
          <a:srcRect l="0" r="0" t="0" b="0"/>
          <a:stretch/>
        </p:blipFill>
        <p:spPr>
          <a:xfrm>
            <a:off x="5852160" y="1143000"/>
            <a:ext cx="2377440" cy="548640"/>
          </a:xfrm>
          <a:prstGeom prst="rect">
            <a:avLst/>
          </a:prstGeom>
        </p:spPr>
      </p:pic>
      <p:sp>
        <p:nvSpPr>
          <p:cNvPr id="5" name="kart"/>
          <p:cNvSpPr/>
          <p:nvPr/>
        </p:nvSpPr>
        <p:spPr>
          <a:xfrm>
            <a:off x="5760720" y="1920240"/>
            <a:ext cx="2926080" cy="2697480"/>
          </a:xfrm>
          <a:prstGeom prst="roundRect">
            <a:avLst>
              <a:gd name="adj" fmla="val 4068"/>
            </a:avLst>
          </a:prstGeom>
          <a:solidFill>
            <a:srgbClr val="F3F4F6"/>
          </a:solidFill>
          <a:ln w="12700">
            <a:solidFill>
              <a:srgbClr val="F3F4F6"/>
            </a:solidFill>
            <a:prstDash val="solid"/>
          </a:ln>
        </p:spPr>
      </p:sp>
      <p:sp>
        <p:nvSpPr>
          <p:cNvPr id="6" name="Text 2"/>
          <p:cNvSpPr txBox="1"/>
          <p:nvPr/>
        </p:nvSpPr>
        <p:spPr>
          <a:xfrm>
            <a:off x="5943600" y="2057400"/>
            <a:ext cx="2606040" cy="2468880"/>
          </a:xfrm>
          <a:prstGeom prst="rect">
            <a:avLst/>
          </a:prstGeom>
          <a:noFill/>
          <a:ln/>
        </p:spPr>
        <p:txBody>
          <a:bodyPr wrap="square" lIns="0" tIns="0" rIns="0" bIns="0" rtlCol="0" anchor="t"/>
          <a:lstStyle/>
          <a:p>
            <a:pPr indent="0" marL="0">
              <a:buNone/>
            </a:pPr>
            <a:r>
              <a:rPr lang="en-US" sz="1300" b="1" dirty="0">
                <a:solidFill>
                  <a:srgbClr val="E76F51"/>
                </a:solidFill>
              </a:rPr>
              <a:t>Yeni mesaj</a:t>
            </a:r>
            <a:endParaRPr lang="en-US" sz="1300" dirty="0"/>
          </a:p>
          <a:p>
            <a:pPr indent="0" marL="0">
              <a:buNone/>
            </a:pPr>
            <a:r>
              <a:rPr lang="en-US" sz="1300" i="1" dirty="0">
                <a:solidFill>
                  <a:srgbClr val="1F2937"/>
                </a:solidFill>
              </a:rPr>
              <a:t>"Free entry! Text WIN to 80086 now"</a:t>
            </a:r>
            <a:endParaRPr lang="en-US" sz="1300" dirty="0"/>
          </a:p>
          <a:p>
            <a:pPr indent="0" marL="0">
              <a:buNone/>
            </a:pPr>
            <a:r>
              <a:rPr lang="en-US" sz="1300" dirty="0">
                <a:solidFill>
                  <a:srgbClr val="1F2937"/>
                </a:solidFill>
              </a:rPr>
              <a:t> </a:t>
            </a:r>
            <a:endParaRPr lang="en-US" sz="1300" dirty="0"/>
          </a:p>
          <a:p>
            <a:pPr indent="0" marL="0">
              <a:buNone/>
            </a:pPr>
            <a:r>
              <a:rPr lang="en-US" sz="1300" dirty="0">
                <a:solidFill>
                  <a:srgbClr val="1F2937"/>
                </a:solidFill>
              </a:rPr>
              <a:t>1. TF-IDF vektörüne çevrilir</a:t>
            </a:r>
            <a:endParaRPr lang="en-US" sz="1300" dirty="0"/>
          </a:p>
          <a:p>
            <a:pPr indent="0" marL="0">
              <a:buNone/>
            </a:pPr>
            <a:r>
              <a:rPr lang="en-US" sz="1300" dirty="0">
                <a:solidFill>
                  <a:srgbClr val="1F2937"/>
                </a:solidFill>
              </a:rPr>
              <a:t>2. w·x + b hesaplanır</a:t>
            </a:r>
            <a:endParaRPr lang="en-US" sz="1300" dirty="0"/>
          </a:p>
          <a:p>
            <a:pPr indent="0" marL="0">
              <a:buNone/>
            </a:pPr>
            <a:r>
              <a:rPr lang="en-US" sz="1300" dirty="0">
                <a:solidFill>
                  <a:srgbClr val="1F2937"/>
                </a:solidFill>
              </a:rPr>
              <a:t>3. Pozitif → </a:t>
            </a:r>
            <a:pPr indent="0" marL="0">
              <a:buNone/>
            </a:pPr>
            <a:r>
              <a:rPr lang="en-US" sz="1300" b="1" dirty="0">
                <a:solidFill>
                  <a:srgbClr val="E76F51"/>
                </a:solidFill>
              </a:rPr>
              <a:t>SPAM</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914400"/>
          </a:xfrm>
          <a:prstGeom prst="rect">
            <a:avLst/>
          </a:prstGeom>
          <a:noFill/>
          <a:ln/>
        </p:spPr>
        <p:txBody>
          <a:bodyPr wrap="square"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Proje yolculuğum</a:t>
            </a:r>
            <a:endParaRPr lang="en-US" sz="3600" dirty="0"/>
          </a:p>
        </p:txBody>
      </p:sp>
      <p:sp>
        <p:nvSpPr>
          <p:cNvPr id="3" name="Text 0"/>
          <p:cNvSpPr/>
          <p:nvPr>
            <p:ph idx="101" type="body" hasCustomPrompt="1"/>
          </p:nvPr>
        </p:nvSpPr>
        <p:spPr>
          <a:xfrm>
            <a:off x="548640" y="2743200"/>
            <a:ext cx="8046720" cy="822960"/>
          </a:xfrm>
          <a:prstGeom prst="rect">
            <a:avLst/>
          </a:prstGeom>
          <a:noFill/>
          <a:ln/>
        </p:spPr>
        <p:txBody>
          <a:bodyPr wrap="square" rtlCol="0" anchor="t"/>
          <a:lstStyle/>
          <a:p>
            <a:pPr indent="0" marL="0">
              <a:buNone/>
            </a:pPr>
            <a:r>
              <a:rPr lang="en-US" sz="1600" dirty="0">
                <a:solidFill>
                  <a:srgbClr val="D1D5DB"/>
                </a:solidFill>
              </a:rPr>
              <a:t>Önce kendim kurdum, sonra AI Agent'ımdan aldığım önerileri inceleyip uyguladım</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Veri: UCI SMS Spam Collection</a:t>
            </a:r>
            <a:endParaRPr lang="en-US" sz="3000" dirty="0"/>
          </a:p>
        </p:txBody>
      </p:sp>
      <p:sp>
        <p:nvSpPr>
          <p:cNvPr id="3" name="Text 1"/>
          <p:cNvSpPr txBox="1"/>
          <p:nvPr/>
        </p:nvSpPr>
        <p:spPr>
          <a:xfrm>
            <a:off x="457200" y="1188720"/>
            <a:ext cx="1920240" cy="685800"/>
          </a:xfrm>
          <a:prstGeom prst="rect">
            <a:avLst/>
          </a:prstGeom>
          <a:noFill/>
          <a:ln/>
        </p:spPr>
        <p:txBody>
          <a:bodyPr wrap="square" lIns="0" tIns="0" rIns="0" bIns="0" rtlCol="0" anchor="t"/>
          <a:lstStyle/>
          <a:p>
            <a:pPr algn="l" indent="0" marL="0">
              <a:buNone/>
            </a:pPr>
            <a:r>
              <a:rPr lang="en-US" sz="4000" b="1" dirty="0">
                <a:solidFill>
                  <a:srgbClr val="1B2432"/>
                </a:solidFill>
                <a:latin typeface="Cambria" pitchFamily="34" charset="0"/>
                <a:ea typeface="Cambria" pitchFamily="34" charset="-122"/>
                <a:cs typeface="Cambria" pitchFamily="34" charset="-120"/>
              </a:rPr>
              <a:t>5.574</a:t>
            </a:r>
            <a:endParaRPr lang="en-US" sz="4000" dirty="0"/>
          </a:p>
        </p:txBody>
      </p:sp>
      <p:sp>
        <p:nvSpPr>
          <p:cNvPr id="4" name="Text 2"/>
          <p:cNvSpPr txBox="1"/>
          <p:nvPr/>
        </p:nvSpPr>
        <p:spPr>
          <a:xfrm>
            <a:off x="457200" y="1874520"/>
            <a:ext cx="1920240" cy="457200"/>
          </a:xfrm>
          <a:prstGeom prst="rect">
            <a:avLst/>
          </a:prstGeom>
          <a:noFill/>
          <a:ln/>
        </p:spPr>
        <p:txBody>
          <a:bodyPr wrap="square" lIns="0" tIns="0" rIns="0" bIns="0" rtlCol="0" anchor="t"/>
          <a:lstStyle/>
          <a:p>
            <a:pPr indent="0" marL="0">
              <a:buNone/>
            </a:pPr>
            <a:r>
              <a:rPr lang="en-US" sz="1200" dirty="0">
                <a:solidFill>
                  <a:srgbClr val="6B7280"/>
                </a:solidFill>
              </a:rPr>
              <a:t>ham kayıt</a:t>
            </a:r>
            <a:endParaRPr lang="en-US" sz="1200" dirty="0"/>
          </a:p>
        </p:txBody>
      </p:sp>
      <p:sp>
        <p:nvSpPr>
          <p:cNvPr id="5" name="Text 3"/>
          <p:cNvSpPr txBox="1"/>
          <p:nvPr/>
        </p:nvSpPr>
        <p:spPr>
          <a:xfrm>
            <a:off x="2560320" y="1188720"/>
            <a:ext cx="1920240" cy="685800"/>
          </a:xfrm>
          <a:prstGeom prst="rect">
            <a:avLst/>
          </a:prstGeom>
          <a:noFill/>
          <a:ln/>
        </p:spPr>
        <p:txBody>
          <a:bodyPr wrap="square" lIns="0" tIns="0" rIns="0" bIns="0" rtlCol="0" anchor="t"/>
          <a:lstStyle/>
          <a:p>
            <a:pPr algn="l" indent="0" marL="0">
              <a:buNone/>
            </a:pPr>
            <a:r>
              <a:rPr lang="en-US" sz="4000" b="1" dirty="0">
                <a:solidFill>
                  <a:srgbClr val="1B2432"/>
                </a:solidFill>
                <a:latin typeface="Cambria" pitchFamily="34" charset="0"/>
                <a:ea typeface="Cambria" pitchFamily="34" charset="-122"/>
                <a:cs typeface="Cambria" pitchFamily="34" charset="-120"/>
              </a:rPr>
              <a:t>403</a:t>
            </a:r>
            <a:endParaRPr lang="en-US" sz="4000" dirty="0"/>
          </a:p>
        </p:txBody>
      </p:sp>
      <p:sp>
        <p:nvSpPr>
          <p:cNvPr id="6" name="Text 4"/>
          <p:cNvSpPr txBox="1"/>
          <p:nvPr/>
        </p:nvSpPr>
        <p:spPr>
          <a:xfrm>
            <a:off x="2560320" y="1874520"/>
            <a:ext cx="1920240" cy="457200"/>
          </a:xfrm>
          <a:prstGeom prst="rect">
            <a:avLst/>
          </a:prstGeom>
          <a:noFill/>
          <a:ln/>
        </p:spPr>
        <p:txBody>
          <a:bodyPr wrap="square" lIns="0" tIns="0" rIns="0" bIns="0" rtlCol="0" anchor="t"/>
          <a:lstStyle/>
          <a:p>
            <a:pPr indent="0" marL="0">
              <a:buNone/>
            </a:pPr>
            <a:r>
              <a:rPr lang="en-US" sz="1200" dirty="0">
                <a:solidFill>
                  <a:srgbClr val="6B7280"/>
                </a:solidFill>
              </a:rPr>
              <a:t>birebir tekrar (silindi)</a:t>
            </a:r>
            <a:endParaRPr lang="en-US" sz="1200" dirty="0"/>
          </a:p>
        </p:txBody>
      </p:sp>
      <p:sp>
        <p:nvSpPr>
          <p:cNvPr id="7" name="Text 5"/>
          <p:cNvSpPr txBox="1"/>
          <p:nvPr/>
        </p:nvSpPr>
        <p:spPr>
          <a:xfrm>
            <a:off x="4663440" y="1188720"/>
            <a:ext cx="1920240" cy="685800"/>
          </a:xfrm>
          <a:prstGeom prst="rect">
            <a:avLst/>
          </a:prstGeom>
          <a:noFill/>
          <a:ln/>
        </p:spPr>
        <p:txBody>
          <a:bodyPr wrap="square" lIns="0" tIns="0" rIns="0" bIns="0" rtlCol="0" anchor="t"/>
          <a:lstStyle/>
          <a:p>
            <a:pPr algn="l" indent="0" marL="0">
              <a:buNone/>
            </a:pPr>
            <a:r>
              <a:rPr lang="en-US" sz="4000" b="1" dirty="0">
                <a:solidFill>
                  <a:srgbClr val="1B2432"/>
                </a:solidFill>
                <a:latin typeface="Cambria" pitchFamily="34" charset="0"/>
                <a:ea typeface="Cambria" pitchFamily="34" charset="-122"/>
                <a:cs typeface="Cambria" pitchFamily="34" charset="-120"/>
              </a:rPr>
              <a:t>5.171</a:t>
            </a:r>
            <a:endParaRPr lang="en-US" sz="4000" dirty="0"/>
          </a:p>
        </p:txBody>
      </p:sp>
      <p:sp>
        <p:nvSpPr>
          <p:cNvPr id="8" name="Text 6"/>
          <p:cNvSpPr txBox="1"/>
          <p:nvPr/>
        </p:nvSpPr>
        <p:spPr>
          <a:xfrm>
            <a:off x="4663440" y="1874520"/>
            <a:ext cx="1920240" cy="457200"/>
          </a:xfrm>
          <a:prstGeom prst="rect">
            <a:avLst/>
          </a:prstGeom>
          <a:noFill/>
          <a:ln/>
        </p:spPr>
        <p:txBody>
          <a:bodyPr wrap="square" lIns="0" tIns="0" rIns="0" bIns="0" rtlCol="0" anchor="t"/>
          <a:lstStyle/>
          <a:p>
            <a:pPr indent="0" marL="0">
              <a:buNone/>
            </a:pPr>
            <a:r>
              <a:rPr lang="en-US" sz="1200" dirty="0">
                <a:solidFill>
                  <a:srgbClr val="6B7280"/>
                </a:solidFill>
              </a:rPr>
              <a:t>temiz mesaj</a:t>
            </a:r>
            <a:endParaRPr lang="en-US" sz="1200" dirty="0"/>
          </a:p>
        </p:txBody>
      </p:sp>
      <p:sp>
        <p:nvSpPr>
          <p:cNvPr id="9" name="Text 7"/>
          <p:cNvSpPr txBox="1"/>
          <p:nvPr/>
        </p:nvSpPr>
        <p:spPr>
          <a:xfrm>
            <a:off x="6766560" y="1188720"/>
            <a:ext cx="1920240" cy="685800"/>
          </a:xfrm>
          <a:prstGeom prst="rect">
            <a:avLst/>
          </a:prstGeom>
          <a:noFill/>
          <a:ln/>
        </p:spPr>
        <p:txBody>
          <a:bodyPr wrap="square" lIns="0" tIns="0" rIns="0" bIns="0" rtlCol="0" anchor="t"/>
          <a:lstStyle/>
          <a:p>
            <a:pPr algn="l" indent="0" marL="0">
              <a:buNone/>
            </a:pPr>
            <a:r>
              <a:rPr lang="en-US" sz="4000" b="1" dirty="0">
                <a:solidFill>
                  <a:srgbClr val="E76F51"/>
                </a:solidFill>
                <a:latin typeface="Cambria" pitchFamily="34" charset="0"/>
                <a:ea typeface="Cambria" pitchFamily="34" charset="-122"/>
                <a:cs typeface="Cambria" pitchFamily="34" charset="-120"/>
              </a:rPr>
              <a:t>%12,6</a:t>
            </a:r>
            <a:endParaRPr lang="en-US" sz="4000" dirty="0"/>
          </a:p>
        </p:txBody>
      </p:sp>
      <p:sp>
        <p:nvSpPr>
          <p:cNvPr id="10" name="Text 8"/>
          <p:cNvSpPr txBox="1"/>
          <p:nvPr/>
        </p:nvSpPr>
        <p:spPr>
          <a:xfrm>
            <a:off x="6766560" y="1874520"/>
            <a:ext cx="1920240" cy="457200"/>
          </a:xfrm>
          <a:prstGeom prst="rect">
            <a:avLst/>
          </a:prstGeom>
          <a:noFill/>
          <a:ln/>
        </p:spPr>
        <p:txBody>
          <a:bodyPr wrap="square" lIns="0" tIns="0" rIns="0" bIns="0" rtlCol="0" anchor="t"/>
          <a:lstStyle/>
          <a:p>
            <a:pPr indent="0" marL="0">
              <a:buNone/>
            </a:pPr>
            <a:r>
              <a:rPr lang="en-US" sz="1200" dirty="0">
                <a:solidFill>
                  <a:srgbClr val="6B7280"/>
                </a:solidFill>
              </a:rPr>
              <a:t>spam oranı</a:t>
            </a:r>
            <a:endParaRPr lang="en-US" sz="1200" dirty="0"/>
          </a:p>
        </p:txBody>
      </p:sp>
      <p:sp>
        <p:nvSpPr>
          <p:cNvPr id="11" name="kart"/>
          <p:cNvSpPr/>
          <p:nvPr/>
        </p:nvSpPr>
        <p:spPr>
          <a:xfrm>
            <a:off x="457200" y="2606040"/>
            <a:ext cx="8229600" cy="2011680"/>
          </a:xfrm>
          <a:prstGeom prst="roundRect">
            <a:avLst>
              <a:gd name="adj" fmla="val 5455"/>
            </a:avLst>
          </a:prstGeom>
          <a:solidFill>
            <a:srgbClr val="F3F4F6"/>
          </a:solidFill>
          <a:ln w="12700">
            <a:solidFill>
              <a:srgbClr val="F3F4F6"/>
            </a:solidFill>
            <a:prstDash val="solid"/>
          </a:ln>
        </p:spPr>
      </p:sp>
      <p:sp>
        <p:nvSpPr>
          <p:cNvPr id="12" name="Text 10"/>
          <p:cNvSpPr txBox="1"/>
          <p:nvPr/>
        </p:nvSpPr>
        <p:spPr>
          <a:xfrm>
            <a:off x="685800" y="2743200"/>
            <a:ext cx="7772400" cy="1783080"/>
          </a:xfrm>
          <a:prstGeom prst="rect">
            <a:avLst/>
          </a:prstGeom>
          <a:noFill/>
          <a:ln/>
        </p:spPr>
        <p:txBody>
          <a:bodyPr wrap="square" lIns="0" tIns="0" rIns="0" bIns="0" rtlCol="0" anchor="t"/>
          <a:lstStyle/>
          <a:p>
            <a:pPr indent="0" marL="0">
              <a:spcAft>
                <a:spcPts val="600"/>
              </a:spcAft>
              <a:buNone/>
            </a:pPr>
            <a:r>
              <a:rPr lang="en-US" sz="1400" b="1" dirty="0">
                <a:solidFill>
                  <a:srgbClr val="1F2937"/>
                </a:solidFill>
              </a:rPr>
              <a:t>Sütunlar: </a:t>
            </a:r>
            <a:pPr indent="0" marL="0">
              <a:spcAft>
                <a:spcPts val="600"/>
              </a:spcAft>
              <a:buNone/>
            </a:pPr>
            <a:r>
              <a:rPr lang="en-US" sz="1400" dirty="0">
                <a:solidFill>
                  <a:srgbClr val="1F2937"/>
                </a:solidFill>
              </a:rPr>
              <a:t>etiket (ham / spam) · mesaj (İngilizce metin)</a:t>
            </a:r>
            <a:endParaRPr lang="en-US" sz="1400" dirty="0"/>
          </a:p>
          <a:p>
            <a:pPr indent="0" marL="0">
              <a:spcAft>
                <a:spcPts val="600"/>
              </a:spcAft>
              <a:buNone/>
            </a:pPr>
            <a:r>
              <a:rPr lang="en-US" sz="1400" b="1" dirty="0">
                <a:solidFill>
                  <a:srgbClr val="1F2937"/>
                </a:solidFill>
              </a:rPr>
              <a:t>Hedef değişken: </a:t>
            </a:r>
            <a:pPr indent="0" marL="0">
              <a:spcAft>
                <a:spcPts val="600"/>
              </a:spcAft>
              <a:buNone/>
            </a:pPr>
            <a:r>
              <a:rPr lang="en-US" sz="1400" dirty="0">
                <a:solidFill>
                  <a:srgbClr val="1F2937"/>
                </a:solidFill>
              </a:rPr>
              <a:t>etiket — ikili sınıflandırma</a:t>
            </a:r>
            <a:endParaRPr lang="en-US" sz="1400" dirty="0"/>
          </a:p>
          <a:p>
            <a:pPr indent="0" marL="0">
              <a:spcAft>
                <a:spcPts val="600"/>
              </a:spcAft>
              <a:buNone/>
            </a:pPr>
            <a:r>
              <a:rPr lang="en-US" sz="1400" b="1" dirty="0">
                <a:solidFill>
                  <a:srgbClr val="E76F51"/>
                </a:solidFill>
              </a:rPr>
              <a:t>Benim kararım: </a:t>
            </a:r>
            <a:pPr indent="0" marL="0">
              <a:spcAft>
                <a:spcPts val="600"/>
              </a:spcAft>
              <a:buNone/>
            </a:pPr>
            <a:r>
              <a:rPr lang="en-US" sz="1400" dirty="0">
                <a:solidFill>
                  <a:srgbClr val="1F2937"/>
                </a:solidFill>
              </a:rPr>
              <a:t>tekrarları eğitim/test ayrımından ÖNCE sildim; aynı mesaj iki tarafta olsaydı test sonucu olduğundan iyi görünürdü. Veri dengesiz olduğu için başarı ölçütü olarak doğruluk değil spam F1 seçtim.</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Benim kurduğum ilk sürüm</a:t>
            </a:r>
            <a:endParaRPr lang="en-US" sz="3000" dirty="0"/>
          </a:p>
        </p:txBody>
      </p:sp>
      <p:sp>
        <p:nvSpPr>
          <p:cNvPr id="3" name="adim"/>
          <p:cNvSpPr/>
          <p:nvPr/>
        </p:nvSpPr>
        <p:spPr>
          <a:xfrm>
            <a:off x="457200" y="1188720"/>
            <a:ext cx="1879092" cy="1051560"/>
          </a:xfrm>
          <a:prstGeom prst="roundRect">
            <a:avLst>
              <a:gd name="adj" fmla="val 10435"/>
            </a:avLst>
          </a:prstGeom>
          <a:solidFill>
            <a:srgbClr val="2A9D8F"/>
          </a:solidFill>
          <a:ln w="12700">
            <a:solidFill>
              <a:srgbClr val="2A9D8F"/>
            </a:solidFill>
            <a:prstDash val="solid"/>
          </a:ln>
        </p:spPr>
      </p:sp>
      <p:sp>
        <p:nvSpPr>
          <p:cNvPr id="4" name="Text 2"/>
          <p:cNvSpPr txBox="1"/>
          <p:nvPr/>
        </p:nvSpPr>
        <p:spPr>
          <a:xfrm>
            <a:off x="512064" y="1188720"/>
            <a:ext cx="1769364" cy="1051560"/>
          </a:xfrm>
          <a:prstGeom prst="rect">
            <a:avLst/>
          </a:prstGeom>
          <a:noFill/>
          <a:ln/>
        </p:spPr>
        <p:txBody>
          <a:bodyPr wrap="square" lIns="0" tIns="0" rIns="0" bIns="0" rtlCol="0" anchor="ctr"/>
          <a:lstStyle/>
          <a:p>
            <a:pPr algn="ctr" indent="0" marL="0">
              <a:buNone/>
            </a:pPr>
            <a:r>
              <a:rPr lang="en-US" sz="1300" b="1" dirty="0">
                <a:solidFill>
                  <a:srgbClr val="FFFFFF"/>
                </a:solidFill>
              </a:rPr>
              <a:t>Okuma + temizlik</a:t>
            </a:r>
            <a:endParaRPr lang="en-US" sz="1300" dirty="0"/>
          </a:p>
          <a:p>
            <a:pPr algn="ctr" indent="0" marL="0">
              <a:buNone/>
            </a:pPr>
            <a:r>
              <a:rPr lang="en-US" sz="1050" dirty="0">
                <a:solidFill>
                  <a:srgbClr val="FFFFFF"/>
                </a:solidFill>
              </a:rPr>
              <a:t>pandas, tekrar silme</a:t>
            </a:r>
            <a:endParaRPr lang="en-US" sz="1300" dirty="0"/>
          </a:p>
        </p:txBody>
      </p:sp>
      <p:sp>
        <p:nvSpPr>
          <p:cNvPr id="5" name="Shape 3"/>
          <p:cNvSpPr/>
          <p:nvPr/>
        </p:nvSpPr>
        <p:spPr>
          <a:xfrm>
            <a:off x="2372868" y="1595628"/>
            <a:ext cx="164592" cy="237744"/>
          </a:xfrm>
          <a:prstGeom prst="rightArrow">
            <a:avLst/>
          </a:prstGeom>
          <a:solidFill>
            <a:srgbClr val="9CA3AF"/>
          </a:solidFill>
          <a:ln w="12700">
            <a:solidFill>
              <a:srgbClr val="9CA3AF"/>
            </a:solidFill>
            <a:prstDash val="solid"/>
          </a:ln>
        </p:spPr>
      </p:sp>
      <p:sp>
        <p:nvSpPr>
          <p:cNvPr id="6" name="adim"/>
          <p:cNvSpPr/>
          <p:nvPr/>
        </p:nvSpPr>
        <p:spPr>
          <a:xfrm>
            <a:off x="2574036" y="1188720"/>
            <a:ext cx="1879092" cy="1051560"/>
          </a:xfrm>
          <a:prstGeom prst="roundRect">
            <a:avLst>
              <a:gd name="adj" fmla="val 10435"/>
            </a:avLst>
          </a:prstGeom>
          <a:solidFill>
            <a:srgbClr val="264653"/>
          </a:solidFill>
          <a:ln w="12700">
            <a:solidFill>
              <a:srgbClr val="264653"/>
            </a:solidFill>
            <a:prstDash val="solid"/>
          </a:ln>
        </p:spPr>
      </p:sp>
      <p:sp>
        <p:nvSpPr>
          <p:cNvPr id="7" name="Text 5"/>
          <p:cNvSpPr txBox="1"/>
          <p:nvPr/>
        </p:nvSpPr>
        <p:spPr>
          <a:xfrm>
            <a:off x="2628900" y="1188720"/>
            <a:ext cx="1769364" cy="1051560"/>
          </a:xfrm>
          <a:prstGeom prst="rect">
            <a:avLst/>
          </a:prstGeom>
          <a:noFill/>
          <a:ln/>
        </p:spPr>
        <p:txBody>
          <a:bodyPr wrap="square" lIns="0" tIns="0" rIns="0" bIns="0" rtlCol="0" anchor="ctr"/>
          <a:lstStyle/>
          <a:p>
            <a:pPr algn="ctr" indent="0" marL="0">
              <a:buNone/>
            </a:pPr>
            <a:r>
              <a:rPr lang="en-US" sz="1300" b="1" dirty="0">
                <a:solidFill>
                  <a:srgbClr val="FFFFFF"/>
                </a:solidFill>
              </a:rPr>
              <a:t>Stratified ayrım</a:t>
            </a:r>
            <a:endParaRPr lang="en-US" sz="1300" dirty="0"/>
          </a:p>
          <a:p>
            <a:pPr algn="ctr" indent="0" marL="0">
              <a:buNone/>
            </a:pPr>
            <a:r>
              <a:rPr lang="en-US" sz="1050" dirty="0">
                <a:solidFill>
                  <a:srgbClr val="FFFFFF"/>
                </a:solidFill>
              </a:rPr>
              <a:t>%80 / %20</a:t>
            </a:r>
            <a:endParaRPr lang="en-US" sz="1300" dirty="0"/>
          </a:p>
        </p:txBody>
      </p:sp>
      <p:sp>
        <p:nvSpPr>
          <p:cNvPr id="8" name="Shape 6"/>
          <p:cNvSpPr/>
          <p:nvPr/>
        </p:nvSpPr>
        <p:spPr>
          <a:xfrm>
            <a:off x="4489704" y="1595628"/>
            <a:ext cx="164592" cy="237744"/>
          </a:xfrm>
          <a:prstGeom prst="rightArrow">
            <a:avLst/>
          </a:prstGeom>
          <a:solidFill>
            <a:srgbClr val="9CA3AF"/>
          </a:solidFill>
          <a:ln w="12700">
            <a:solidFill>
              <a:srgbClr val="9CA3AF"/>
            </a:solidFill>
            <a:prstDash val="solid"/>
          </a:ln>
        </p:spPr>
      </p:sp>
      <p:sp>
        <p:nvSpPr>
          <p:cNvPr id="9" name="adim"/>
          <p:cNvSpPr/>
          <p:nvPr/>
        </p:nvSpPr>
        <p:spPr>
          <a:xfrm>
            <a:off x="4690872" y="1188720"/>
            <a:ext cx="1879092" cy="1051560"/>
          </a:xfrm>
          <a:prstGeom prst="roundRect">
            <a:avLst>
              <a:gd name="adj" fmla="val 10435"/>
            </a:avLst>
          </a:prstGeom>
          <a:solidFill>
            <a:srgbClr val="E76F51"/>
          </a:solidFill>
          <a:ln w="12700">
            <a:solidFill>
              <a:srgbClr val="E76F51"/>
            </a:solidFill>
            <a:prstDash val="solid"/>
          </a:ln>
        </p:spPr>
      </p:sp>
      <p:sp>
        <p:nvSpPr>
          <p:cNvPr id="10" name="Text 8"/>
          <p:cNvSpPr txBox="1"/>
          <p:nvPr/>
        </p:nvSpPr>
        <p:spPr>
          <a:xfrm>
            <a:off x="4745736" y="1188720"/>
            <a:ext cx="1769364" cy="1051560"/>
          </a:xfrm>
          <a:prstGeom prst="rect">
            <a:avLst/>
          </a:prstGeom>
          <a:noFill/>
          <a:ln/>
        </p:spPr>
        <p:txBody>
          <a:bodyPr wrap="square" lIns="0" tIns="0" rIns="0" bIns="0" rtlCol="0" anchor="ctr"/>
          <a:lstStyle/>
          <a:p>
            <a:pPr algn="ctr" indent="0" marL="0">
              <a:buNone/>
            </a:pPr>
            <a:r>
              <a:rPr lang="en-US" sz="1300" b="1" dirty="0">
                <a:solidFill>
                  <a:srgbClr val="FFFFFF"/>
                </a:solidFill>
              </a:rPr>
              <a:t>TF-IDF + Naive Bayes</a:t>
            </a:r>
            <a:endParaRPr lang="en-US" sz="1300" dirty="0"/>
          </a:p>
          <a:p>
            <a:pPr algn="ctr" indent="0" marL="0">
              <a:buNone/>
            </a:pPr>
            <a:r>
              <a:rPr lang="en-US" sz="1050" dirty="0">
                <a:solidFill>
                  <a:srgbClr val="FFFFFF"/>
                </a:solidFill>
              </a:rPr>
              <a:t>Pipeline</a:t>
            </a:r>
            <a:endParaRPr lang="en-US" sz="1300" dirty="0"/>
          </a:p>
        </p:txBody>
      </p:sp>
      <p:sp>
        <p:nvSpPr>
          <p:cNvPr id="11" name="Shape 9"/>
          <p:cNvSpPr/>
          <p:nvPr/>
        </p:nvSpPr>
        <p:spPr>
          <a:xfrm>
            <a:off x="6606540" y="1595628"/>
            <a:ext cx="164592" cy="237744"/>
          </a:xfrm>
          <a:prstGeom prst="rightArrow">
            <a:avLst/>
          </a:prstGeom>
          <a:solidFill>
            <a:srgbClr val="9CA3AF"/>
          </a:solidFill>
          <a:ln w="12700">
            <a:solidFill>
              <a:srgbClr val="9CA3AF"/>
            </a:solidFill>
            <a:prstDash val="solid"/>
          </a:ln>
        </p:spPr>
      </p:sp>
      <p:sp>
        <p:nvSpPr>
          <p:cNvPr id="12" name="adim"/>
          <p:cNvSpPr/>
          <p:nvPr/>
        </p:nvSpPr>
        <p:spPr>
          <a:xfrm>
            <a:off x="6807708" y="1188720"/>
            <a:ext cx="1879092" cy="1051560"/>
          </a:xfrm>
          <a:prstGeom prst="roundRect">
            <a:avLst>
              <a:gd name="adj" fmla="val 10435"/>
            </a:avLst>
          </a:prstGeom>
          <a:solidFill>
            <a:srgbClr val="1B2432"/>
          </a:solidFill>
          <a:ln w="12700">
            <a:solidFill>
              <a:srgbClr val="1B2432"/>
            </a:solidFill>
            <a:prstDash val="solid"/>
          </a:ln>
        </p:spPr>
      </p:sp>
      <p:sp>
        <p:nvSpPr>
          <p:cNvPr id="13" name="Text 11"/>
          <p:cNvSpPr txBox="1"/>
          <p:nvPr/>
        </p:nvSpPr>
        <p:spPr>
          <a:xfrm>
            <a:off x="6862572" y="1188720"/>
            <a:ext cx="1769364" cy="1051560"/>
          </a:xfrm>
          <a:prstGeom prst="rect">
            <a:avLst/>
          </a:prstGeom>
          <a:noFill/>
          <a:ln/>
        </p:spPr>
        <p:txBody>
          <a:bodyPr wrap="square" lIns="0" tIns="0" rIns="0" bIns="0" rtlCol="0" anchor="ctr"/>
          <a:lstStyle/>
          <a:p>
            <a:pPr algn="ctr" indent="0" marL="0">
              <a:buNone/>
            </a:pPr>
            <a:r>
              <a:rPr lang="en-US" sz="1300" b="1" dirty="0">
                <a:solidFill>
                  <a:srgbClr val="FFFFFF"/>
                </a:solidFill>
              </a:rPr>
              <a:t>Alpha araması</a:t>
            </a:r>
            <a:endParaRPr lang="en-US" sz="1300" dirty="0"/>
          </a:p>
          <a:p>
            <a:pPr algn="ctr" indent="0" marL="0">
              <a:buNone/>
            </a:pPr>
            <a:r>
              <a:rPr lang="en-US" sz="1050" dirty="0">
                <a:solidFill>
                  <a:srgbClr val="FFFFFF"/>
                </a:solidFill>
              </a:rPr>
              <a:t>0.1 – 1, 5-katlı CV</a:t>
            </a:r>
            <a:endParaRPr lang="en-US" sz="1300" dirty="0"/>
          </a:p>
        </p:txBody>
      </p:sp>
      <p:sp>
        <p:nvSpPr>
          <p:cNvPr id="14" name="Text 12"/>
          <p:cNvSpPr txBox="1"/>
          <p:nvPr/>
        </p:nvSpPr>
        <p:spPr>
          <a:xfrm>
            <a:off x="640080" y="2606040"/>
            <a:ext cx="2377440" cy="685800"/>
          </a:xfrm>
          <a:prstGeom prst="rect">
            <a:avLst/>
          </a:prstGeom>
          <a:noFill/>
          <a:ln/>
        </p:spPr>
        <p:txBody>
          <a:bodyPr wrap="square" lIns="0" tIns="0" rIns="0" bIns="0" rtlCol="0" anchor="t"/>
          <a:lstStyle/>
          <a:p>
            <a:pPr algn="l" indent="0" marL="0">
              <a:buNone/>
            </a:pPr>
            <a:r>
              <a:rPr lang="en-US" sz="4000" b="1" dirty="0">
                <a:solidFill>
                  <a:srgbClr val="6B7280"/>
                </a:solidFill>
                <a:latin typeface="Cambria" pitchFamily="34" charset="0"/>
                <a:ea typeface="Cambria" pitchFamily="34" charset="-122"/>
                <a:cs typeface="Cambria" pitchFamily="34" charset="-120"/>
              </a:rPr>
              <a:t>0,770</a:t>
            </a:r>
            <a:endParaRPr lang="en-US" sz="4000" dirty="0"/>
          </a:p>
        </p:txBody>
      </p:sp>
      <p:sp>
        <p:nvSpPr>
          <p:cNvPr id="15" name="Text 13"/>
          <p:cNvSpPr txBox="1"/>
          <p:nvPr/>
        </p:nvSpPr>
        <p:spPr>
          <a:xfrm>
            <a:off x="640080" y="3291840"/>
            <a:ext cx="2377440" cy="457200"/>
          </a:xfrm>
          <a:prstGeom prst="rect">
            <a:avLst/>
          </a:prstGeom>
          <a:noFill/>
          <a:ln/>
        </p:spPr>
        <p:txBody>
          <a:bodyPr wrap="square" lIns="0" tIns="0" rIns="0" bIns="0" rtlCol="0" anchor="t"/>
          <a:lstStyle/>
          <a:p>
            <a:pPr indent="0" marL="0">
              <a:buNone/>
            </a:pPr>
            <a:r>
              <a:rPr lang="en-US" sz="1200" dirty="0">
                <a:solidFill>
                  <a:srgbClr val="6B7280"/>
                </a:solidFill>
              </a:rPr>
              <a:t>ilk NB (alpha=1) spam F1</a:t>
            </a:r>
            <a:endParaRPr lang="en-US" sz="1200" dirty="0"/>
          </a:p>
        </p:txBody>
      </p:sp>
      <p:sp>
        <p:nvSpPr>
          <p:cNvPr id="16" name="Text 14"/>
          <p:cNvSpPr txBox="1"/>
          <p:nvPr/>
        </p:nvSpPr>
        <p:spPr>
          <a:xfrm>
            <a:off x="3291840" y="2606040"/>
            <a:ext cx="2377440" cy="685800"/>
          </a:xfrm>
          <a:prstGeom prst="rect">
            <a:avLst/>
          </a:prstGeom>
          <a:noFill/>
          <a:ln/>
        </p:spPr>
        <p:txBody>
          <a:bodyPr wrap="square" lIns="0" tIns="0" rIns="0" bIns="0" rtlCol="0" anchor="t"/>
          <a:lstStyle/>
          <a:p>
            <a:pPr algn="l" indent="0" marL="0">
              <a:buNone/>
            </a:pPr>
            <a:r>
              <a:rPr lang="en-US" sz="4000" b="1" dirty="0">
                <a:solidFill>
                  <a:srgbClr val="E76F51"/>
                </a:solidFill>
                <a:latin typeface="Cambria" pitchFamily="34" charset="0"/>
                <a:ea typeface="Cambria" pitchFamily="34" charset="-122"/>
                <a:cs typeface="Cambria" pitchFamily="34" charset="-120"/>
              </a:rPr>
              <a:t>0,924</a:t>
            </a:r>
            <a:endParaRPr lang="en-US" sz="4000" dirty="0"/>
          </a:p>
        </p:txBody>
      </p:sp>
      <p:sp>
        <p:nvSpPr>
          <p:cNvPr id="17" name="Text 15"/>
          <p:cNvSpPr txBox="1"/>
          <p:nvPr/>
        </p:nvSpPr>
        <p:spPr>
          <a:xfrm>
            <a:off x="3291840" y="3291840"/>
            <a:ext cx="2377440" cy="457200"/>
          </a:xfrm>
          <a:prstGeom prst="rect">
            <a:avLst/>
          </a:prstGeom>
          <a:noFill/>
          <a:ln/>
        </p:spPr>
        <p:txBody>
          <a:bodyPr wrap="square" lIns="0" tIns="0" rIns="0" bIns="0" rtlCol="0" anchor="t"/>
          <a:lstStyle/>
          <a:p>
            <a:pPr indent="0" marL="0">
              <a:buNone/>
            </a:pPr>
            <a:r>
              <a:rPr lang="en-US" sz="1200" dirty="0">
                <a:solidFill>
                  <a:srgbClr val="6B7280"/>
                </a:solidFill>
              </a:rPr>
              <a:t>alpha=0.1 ile spam F1</a:t>
            </a:r>
            <a:endParaRPr lang="en-US" sz="1200" dirty="0"/>
          </a:p>
        </p:txBody>
      </p:sp>
      <p:sp>
        <p:nvSpPr>
          <p:cNvPr id="18" name="Text 16"/>
          <p:cNvSpPr txBox="1"/>
          <p:nvPr/>
        </p:nvSpPr>
        <p:spPr>
          <a:xfrm>
            <a:off x="5943600" y="2606040"/>
            <a:ext cx="2560320" cy="685800"/>
          </a:xfrm>
          <a:prstGeom prst="rect">
            <a:avLst/>
          </a:prstGeom>
          <a:noFill/>
          <a:ln/>
        </p:spPr>
        <p:txBody>
          <a:bodyPr wrap="square" lIns="0" tIns="0" rIns="0" bIns="0" rtlCol="0" anchor="t"/>
          <a:lstStyle/>
          <a:p>
            <a:pPr algn="l" indent="0" marL="0">
              <a:buNone/>
            </a:pPr>
            <a:r>
              <a:rPr lang="en-US" sz="4000" b="1" dirty="0">
                <a:solidFill>
                  <a:srgbClr val="1B2432"/>
                </a:solidFill>
                <a:latin typeface="Cambria" pitchFamily="34" charset="0"/>
                <a:ea typeface="Cambria" pitchFamily="34" charset="-122"/>
                <a:cs typeface="Cambria" pitchFamily="34" charset="-120"/>
              </a:rPr>
              <a:t>49 → 15</a:t>
            </a:r>
            <a:endParaRPr lang="en-US" sz="4000" dirty="0"/>
          </a:p>
        </p:txBody>
      </p:sp>
      <p:sp>
        <p:nvSpPr>
          <p:cNvPr id="19" name="Text 17"/>
          <p:cNvSpPr txBox="1"/>
          <p:nvPr/>
        </p:nvSpPr>
        <p:spPr>
          <a:xfrm>
            <a:off x="5943600" y="3291840"/>
            <a:ext cx="2560320" cy="457200"/>
          </a:xfrm>
          <a:prstGeom prst="rect">
            <a:avLst/>
          </a:prstGeom>
          <a:noFill/>
          <a:ln/>
        </p:spPr>
        <p:txBody>
          <a:bodyPr wrap="square" lIns="0" tIns="0" rIns="0" bIns="0" rtlCol="0" anchor="t"/>
          <a:lstStyle/>
          <a:p>
            <a:pPr indent="0" marL="0">
              <a:buNone/>
            </a:pPr>
            <a:r>
              <a:rPr lang="en-US" sz="1200" dirty="0">
                <a:solidFill>
                  <a:srgbClr val="6B7280"/>
                </a:solidFill>
              </a:rPr>
              <a:t>kaçırılan spam</a:t>
            </a:r>
            <a:endParaRPr lang="en-US" sz="1200" dirty="0"/>
          </a:p>
        </p:txBody>
      </p:sp>
      <p:sp>
        <p:nvSpPr>
          <p:cNvPr id="20" name="Text 18"/>
          <p:cNvSpPr txBox="1"/>
          <p:nvPr/>
        </p:nvSpPr>
        <p:spPr>
          <a:xfrm>
            <a:off x="640080" y="4023360"/>
            <a:ext cx="7863840" cy="457200"/>
          </a:xfrm>
          <a:prstGeom prst="rect">
            <a:avLst/>
          </a:prstGeom>
          <a:noFill/>
          <a:ln/>
        </p:spPr>
        <p:txBody>
          <a:bodyPr wrap="square" lIns="0" tIns="0" rIns="0" bIns="0" rtlCol="0" anchor="t"/>
          <a:lstStyle/>
          <a:p>
            <a:pPr indent="0" marL="0">
              <a:buNone/>
            </a:pPr>
            <a:r>
              <a:rPr lang="en-US" sz="1300" dirty="0">
                <a:solidFill>
                  <a:srgbClr val="6B7280"/>
                </a:solidFill>
              </a:rPr>
              <a:t>Varsayılan alpha=1 nadir spam kelimelerini fazla bastırıyordu; ayar araması bunu düzeltti.</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AI Agent'ımdan aldığım geliştirme önerileri</a:t>
            </a:r>
            <a:endParaRPr lang="en-US" sz="3000" dirty="0"/>
          </a:p>
        </p:txBody>
      </p:sp>
      <p:sp>
        <p:nvSpPr>
          <p:cNvPr id="3" name="kart"/>
          <p:cNvSpPr/>
          <p:nvPr/>
        </p:nvSpPr>
        <p:spPr>
          <a:xfrm>
            <a:off x="457200" y="1097280"/>
            <a:ext cx="2590800" cy="3520440"/>
          </a:xfrm>
          <a:prstGeom prst="roundRect">
            <a:avLst>
              <a:gd name="adj" fmla="val 4235"/>
            </a:avLst>
          </a:prstGeom>
          <a:solidFill>
            <a:srgbClr val="F3F4F6"/>
          </a:solidFill>
          <a:ln w="12700">
            <a:solidFill>
              <a:srgbClr val="F3F4F6"/>
            </a:solidFill>
            <a:prstDash val="solid"/>
          </a:ln>
        </p:spPr>
      </p:sp>
      <p:sp>
        <p:nvSpPr>
          <p:cNvPr id="4" name="Shape 2"/>
          <p:cNvSpPr/>
          <p:nvPr/>
        </p:nvSpPr>
        <p:spPr>
          <a:xfrm>
            <a:off x="640080" y="1234440"/>
            <a:ext cx="384048" cy="384048"/>
          </a:xfrm>
          <a:prstGeom prst="ellipse">
            <a:avLst/>
          </a:prstGeom>
          <a:solidFill>
            <a:srgbClr val="E76F51"/>
          </a:solidFill>
          <a:ln w="12700">
            <a:solidFill>
              <a:srgbClr val="E76F51"/>
            </a:solidFill>
            <a:prstDash val="solid"/>
          </a:ln>
        </p:spPr>
      </p:sp>
      <p:sp>
        <p:nvSpPr>
          <p:cNvPr id="5" name="Text 3"/>
          <p:cNvSpPr txBox="1"/>
          <p:nvPr/>
        </p:nvSpPr>
        <p:spPr>
          <a:xfrm>
            <a:off x="640080" y="12344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143000" y="1216152"/>
            <a:ext cx="1767840" cy="457200"/>
          </a:xfrm>
          <a:prstGeom prst="rect">
            <a:avLst/>
          </a:prstGeom>
          <a:noFill/>
          <a:ln/>
        </p:spPr>
        <p:txBody>
          <a:bodyPr wrap="square" lIns="0" tIns="0" rIns="0" bIns="0" rtlCol="0" anchor="ctr"/>
          <a:lstStyle/>
          <a:p>
            <a:pPr indent="0" marL="0">
              <a:buNone/>
            </a:pPr>
            <a:r>
              <a:rPr lang="en-US" sz="1450" b="1" dirty="0">
                <a:solidFill>
                  <a:srgbClr val="1B2432"/>
                </a:solidFill>
              </a:rPr>
              <a:t>Model karşılaştırması</a:t>
            </a:r>
            <a:endParaRPr lang="en-US" sz="1450" dirty="0"/>
          </a:p>
        </p:txBody>
      </p:sp>
      <p:sp>
        <p:nvSpPr>
          <p:cNvPr id="7" name="Text 5"/>
          <p:cNvSpPr txBox="1"/>
          <p:nvPr/>
        </p:nvSpPr>
        <p:spPr>
          <a:xfrm>
            <a:off x="640080" y="1828800"/>
            <a:ext cx="2225040" cy="228600"/>
          </a:xfrm>
          <a:prstGeom prst="rect">
            <a:avLst/>
          </a:prstGeom>
          <a:noFill/>
          <a:ln/>
        </p:spPr>
        <p:txBody>
          <a:bodyPr wrap="square" lIns="0" tIns="0" rIns="0" bIns="0" rtlCol="0" anchor="t"/>
          <a:lstStyle/>
          <a:p>
            <a:pPr indent="0" marL="0">
              <a:buNone/>
            </a:pPr>
            <a:r>
              <a:rPr lang="en-US" sz="1050" b="1" dirty="0">
                <a:solidFill>
                  <a:srgbClr val="6B7280"/>
                </a:solidFill>
              </a:rPr>
              <a:t>Önce</a:t>
            </a:r>
            <a:endParaRPr lang="en-US" sz="1050" dirty="0"/>
          </a:p>
        </p:txBody>
      </p:sp>
      <p:sp>
        <p:nvSpPr>
          <p:cNvPr id="8" name="Text 6"/>
          <p:cNvSpPr txBox="1"/>
          <p:nvPr/>
        </p:nvSpPr>
        <p:spPr>
          <a:xfrm>
            <a:off x="640080" y="2057400"/>
            <a:ext cx="2225040" cy="868680"/>
          </a:xfrm>
          <a:prstGeom prst="rect">
            <a:avLst/>
          </a:prstGeom>
          <a:noFill/>
          <a:ln/>
        </p:spPr>
        <p:txBody>
          <a:bodyPr wrap="square" lIns="0" tIns="0" rIns="0" bIns="0" rtlCol="0" anchor="t"/>
          <a:lstStyle/>
          <a:p>
            <a:pPr indent="0" marL="0">
              <a:buNone/>
            </a:pPr>
            <a:r>
              <a:rPr lang="en-US" sz="1200" dirty="0">
                <a:solidFill>
                  <a:srgbClr val="1F2937"/>
                </a:solidFill>
              </a:rPr>
              <a:t>Sadece Naive Bayes vardı.</a:t>
            </a:r>
            <a:endParaRPr lang="en-US" sz="1200" dirty="0"/>
          </a:p>
        </p:txBody>
      </p:sp>
      <p:sp>
        <p:nvSpPr>
          <p:cNvPr id="9" name="Text 7"/>
          <p:cNvSpPr txBox="1"/>
          <p:nvPr/>
        </p:nvSpPr>
        <p:spPr>
          <a:xfrm>
            <a:off x="640080" y="2926080"/>
            <a:ext cx="2225040" cy="228600"/>
          </a:xfrm>
          <a:prstGeom prst="rect">
            <a:avLst/>
          </a:prstGeom>
          <a:noFill/>
          <a:ln/>
        </p:spPr>
        <p:txBody>
          <a:bodyPr wrap="square" lIns="0" tIns="0" rIns="0" bIns="0" rtlCol="0" anchor="t"/>
          <a:lstStyle/>
          <a:p>
            <a:pPr indent="0" marL="0">
              <a:buNone/>
            </a:pPr>
            <a:r>
              <a:rPr lang="en-US" sz="1050" b="1" dirty="0">
                <a:solidFill>
                  <a:srgbClr val="E76F51"/>
                </a:solidFill>
              </a:rPr>
              <a:t>Öneri → karar</a:t>
            </a:r>
            <a:endParaRPr lang="en-US" sz="1050" dirty="0"/>
          </a:p>
        </p:txBody>
      </p:sp>
      <p:sp>
        <p:nvSpPr>
          <p:cNvPr id="10" name="Text 8"/>
          <p:cNvSpPr txBox="1"/>
          <p:nvPr/>
        </p:nvSpPr>
        <p:spPr>
          <a:xfrm>
            <a:off x="640080" y="3154680"/>
            <a:ext cx="2225040" cy="1371600"/>
          </a:xfrm>
          <a:prstGeom prst="rect">
            <a:avLst/>
          </a:prstGeom>
          <a:noFill/>
          <a:ln/>
        </p:spPr>
        <p:txBody>
          <a:bodyPr wrap="square" lIns="0" tIns="0" rIns="0" bIns="0" rtlCol="0" anchor="t"/>
          <a:lstStyle/>
          <a:p>
            <a:pPr indent="0" marL="0">
              <a:buNone/>
            </a:pPr>
            <a:r>
              <a:rPr lang="en-US" sz="1200" dirty="0">
                <a:solidFill>
                  <a:srgbClr val="1F2937"/>
                </a:solidFill>
              </a:rPr>
              <a:t>Logistic Regression ve Linear SVM'i de ekleyip karşılaştırmayı önerdi. Uyguladım; CV'de Linear SVM önde çıktı.</a:t>
            </a:r>
            <a:endParaRPr lang="en-US" sz="1200" dirty="0"/>
          </a:p>
        </p:txBody>
      </p:sp>
      <p:sp>
        <p:nvSpPr>
          <p:cNvPr id="11" name="kart"/>
          <p:cNvSpPr/>
          <p:nvPr/>
        </p:nvSpPr>
        <p:spPr>
          <a:xfrm>
            <a:off x="3276600" y="1097280"/>
            <a:ext cx="2590800" cy="3520440"/>
          </a:xfrm>
          <a:prstGeom prst="roundRect">
            <a:avLst>
              <a:gd name="adj" fmla="val 4235"/>
            </a:avLst>
          </a:prstGeom>
          <a:solidFill>
            <a:srgbClr val="F3F4F6"/>
          </a:solidFill>
          <a:ln w="12700">
            <a:solidFill>
              <a:srgbClr val="F3F4F6"/>
            </a:solidFill>
            <a:prstDash val="solid"/>
          </a:ln>
        </p:spPr>
      </p:sp>
      <p:sp>
        <p:nvSpPr>
          <p:cNvPr id="12" name="Shape 10"/>
          <p:cNvSpPr/>
          <p:nvPr/>
        </p:nvSpPr>
        <p:spPr>
          <a:xfrm>
            <a:off x="3459480" y="1234440"/>
            <a:ext cx="384048" cy="384048"/>
          </a:xfrm>
          <a:prstGeom prst="ellipse">
            <a:avLst/>
          </a:prstGeom>
          <a:solidFill>
            <a:srgbClr val="E76F51"/>
          </a:solidFill>
          <a:ln w="12700">
            <a:solidFill>
              <a:srgbClr val="E76F51"/>
            </a:solidFill>
            <a:prstDash val="solid"/>
          </a:ln>
        </p:spPr>
      </p:sp>
      <p:sp>
        <p:nvSpPr>
          <p:cNvPr id="13" name="Text 11"/>
          <p:cNvSpPr txBox="1"/>
          <p:nvPr/>
        </p:nvSpPr>
        <p:spPr>
          <a:xfrm>
            <a:off x="3459480" y="12344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4" name="Text 12"/>
          <p:cNvSpPr txBox="1"/>
          <p:nvPr/>
        </p:nvSpPr>
        <p:spPr>
          <a:xfrm>
            <a:off x="3962400" y="1216152"/>
            <a:ext cx="1767840" cy="457200"/>
          </a:xfrm>
          <a:prstGeom prst="rect">
            <a:avLst/>
          </a:prstGeom>
          <a:noFill/>
          <a:ln/>
        </p:spPr>
        <p:txBody>
          <a:bodyPr wrap="square" lIns="0" tIns="0" rIns="0" bIns="0" rtlCol="0" anchor="ctr"/>
          <a:lstStyle/>
          <a:p>
            <a:pPr indent="0" marL="0">
              <a:buNone/>
            </a:pPr>
            <a:r>
              <a:rPr lang="en-US" sz="1450" b="1" dirty="0">
                <a:solidFill>
                  <a:srgbClr val="1B2432"/>
                </a:solidFill>
              </a:rPr>
              <a:t>Alpha aralığı</a:t>
            </a:r>
            <a:endParaRPr lang="en-US" sz="1450" dirty="0"/>
          </a:p>
        </p:txBody>
      </p:sp>
      <p:sp>
        <p:nvSpPr>
          <p:cNvPr id="15" name="Text 13"/>
          <p:cNvSpPr txBox="1"/>
          <p:nvPr/>
        </p:nvSpPr>
        <p:spPr>
          <a:xfrm>
            <a:off x="3459480" y="1828800"/>
            <a:ext cx="2225040" cy="228600"/>
          </a:xfrm>
          <a:prstGeom prst="rect">
            <a:avLst/>
          </a:prstGeom>
          <a:noFill/>
          <a:ln/>
        </p:spPr>
        <p:txBody>
          <a:bodyPr wrap="square" lIns="0" tIns="0" rIns="0" bIns="0" rtlCol="0" anchor="t"/>
          <a:lstStyle/>
          <a:p>
            <a:pPr indent="0" marL="0">
              <a:buNone/>
            </a:pPr>
            <a:r>
              <a:rPr lang="en-US" sz="1050" b="1" dirty="0">
                <a:solidFill>
                  <a:srgbClr val="6B7280"/>
                </a:solidFill>
              </a:rPr>
              <a:t>Önce</a:t>
            </a:r>
            <a:endParaRPr lang="en-US" sz="1050" dirty="0"/>
          </a:p>
        </p:txBody>
      </p:sp>
      <p:sp>
        <p:nvSpPr>
          <p:cNvPr id="16" name="Text 14"/>
          <p:cNvSpPr txBox="1"/>
          <p:nvPr/>
        </p:nvSpPr>
        <p:spPr>
          <a:xfrm>
            <a:off x="3459480" y="2057400"/>
            <a:ext cx="2225040" cy="868680"/>
          </a:xfrm>
          <a:prstGeom prst="rect">
            <a:avLst/>
          </a:prstGeom>
          <a:noFill/>
          <a:ln/>
        </p:spPr>
        <p:txBody>
          <a:bodyPr wrap="square" lIns="0" tIns="0" rIns="0" bIns="0" rtlCol="0" anchor="t"/>
          <a:lstStyle/>
          <a:p>
            <a:pPr indent="0" marL="0">
              <a:buNone/>
            </a:pPr>
            <a:r>
              <a:rPr lang="en-US" sz="1200" dirty="0">
                <a:solidFill>
                  <a:srgbClr val="1F2937"/>
                </a:solidFill>
              </a:rPr>
              <a:t>En iyi alpha (0.1) denediğim aralığın en ucundaydı.</a:t>
            </a:r>
            <a:endParaRPr lang="en-US" sz="1200" dirty="0"/>
          </a:p>
        </p:txBody>
      </p:sp>
      <p:sp>
        <p:nvSpPr>
          <p:cNvPr id="17" name="Text 15"/>
          <p:cNvSpPr txBox="1"/>
          <p:nvPr/>
        </p:nvSpPr>
        <p:spPr>
          <a:xfrm>
            <a:off x="3459480" y="2926080"/>
            <a:ext cx="2225040" cy="228600"/>
          </a:xfrm>
          <a:prstGeom prst="rect">
            <a:avLst/>
          </a:prstGeom>
          <a:noFill/>
          <a:ln/>
        </p:spPr>
        <p:txBody>
          <a:bodyPr wrap="square" lIns="0" tIns="0" rIns="0" bIns="0" rtlCol="0" anchor="t"/>
          <a:lstStyle/>
          <a:p>
            <a:pPr indent="0" marL="0">
              <a:buNone/>
            </a:pPr>
            <a:r>
              <a:rPr lang="en-US" sz="1050" b="1" dirty="0">
                <a:solidFill>
                  <a:srgbClr val="E76F51"/>
                </a:solidFill>
              </a:rPr>
              <a:t>Öneri → karar</a:t>
            </a:r>
            <a:endParaRPr lang="en-US" sz="1050" dirty="0"/>
          </a:p>
        </p:txBody>
      </p:sp>
      <p:sp>
        <p:nvSpPr>
          <p:cNvPr id="18" name="Text 16"/>
          <p:cNvSpPr txBox="1"/>
          <p:nvPr/>
        </p:nvSpPr>
        <p:spPr>
          <a:xfrm>
            <a:off x="3459480" y="3154680"/>
            <a:ext cx="2225040" cy="1371600"/>
          </a:xfrm>
          <a:prstGeom prst="rect">
            <a:avLst/>
          </a:prstGeom>
          <a:noFill/>
          <a:ln/>
        </p:spPr>
        <p:txBody>
          <a:bodyPr wrap="square" lIns="0" tIns="0" rIns="0" bIns="0" rtlCol="0" anchor="t"/>
          <a:lstStyle/>
          <a:p>
            <a:pPr indent="0" marL="0">
              <a:buNone/>
            </a:pPr>
            <a:r>
              <a:rPr lang="en-US" sz="1200" dirty="0">
                <a:solidFill>
                  <a:srgbClr val="1F2937"/>
                </a:solidFill>
              </a:rPr>
              <a:t>Aralığı genişletmeyi önerdi. Genişlettim; yeni en iyi değer (0.01) aralığın içinde kaldı.</a:t>
            </a:r>
            <a:endParaRPr lang="en-US" sz="1200" dirty="0"/>
          </a:p>
        </p:txBody>
      </p:sp>
      <p:sp>
        <p:nvSpPr>
          <p:cNvPr id="19" name="kart"/>
          <p:cNvSpPr/>
          <p:nvPr/>
        </p:nvSpPr>
        <p:spPr>
          <a:xfrm>
            <a:off x="6096000" y="1097280"/>
            <a:ext cx="2590800" cy="3520440"/>
          </a:xfrm>
          <a:prstGeom prst="roundRect">
            <a:avLst>
              <a:gd name="adj" fmla="val 4235"/>
            </a:avLst>
          </a:prstGeom>
          <a:solidFill>
            <a:srgbClr val="F3F4F6"/>
          </a:solidFill>
          <a:ln w="12700">
            <a:solidFill>
              <a:srgbClr val="F3F4F6"/>
            </a:solidFill>
            <a:prstDash val="solid"/>
          </a:ln>
        </p:spPr>
      </p:sp>
      <p:sp>
        <p:nvSpPr>
          <p:cNvPr id="20" name="Shape 18"/>
          <p:cNvSpPr/>
          <p:nvPr/>
        </p:nvSpPr>
        <p:spPr>
          <a:xfrm>
            <a:off x="6278880" y="1234440"/>
            <a:ext cx="384048" cy="384048"/>
          </a:xfrm>
          <a:prstGeom prst="ellipse">
            <a:avLst/>
          </a:prstGeom>
          <a:solidFill>
            <a:srgbClr val="E76F51"/>
          </a:solidFill>
          <a:ln w="12700">
            <a:solidFill>
              <a:srgbClr val="E76F51"/>
            </a:solidFill>
            <a:prstDash val="solid"/>
          </a:ln>
        </p:spPr>
      </p:sp>
      <p:sp>
        <p:nvSpPr>
          <p:cNvPr id="21" name="Text 19"/>
          <p:cNvSpPr txBox="1"/>
          <p:nvPr/>
        </p:nvSpPr>
        <p:spPr>
          <a:xfrm>
            <a:off x="6278880" y="12344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2" name="Text 20"/>
          <p:cNvSpPr txBox="1"/>
          <p:nvPr/>
        </p:nvSpPr>
        <p:spPr>
          <a:xfrm>
            <a:off x="6781800" y="1216152"/>
            <a:ext cx="1767840" cy="457200"/>
          </a:xfrm>
          <a:prstGeom prst="rect">
            <a:avLst/>
          </a:prstGeom>
          <a:noFill/>
          <a:ln/>
        </p:spPr>
        <p:txBody>
          <a:bodyPr wrap="square" lIns="0" tIns="0" rIns="0" bIns="0" rtlCol="0" anchor="ctr"/>
          <a:lstStyle/>
          <a:p>
            <a:pPr indent="0" marL="0">
              <a:buNone/>
            </a:pPr>
            <a:r>
              <a:rPr lang="en-US" sz="1450" b="1" dirty="0">
                <a:solidFill>
                  <a:srgbClr val="1B2432"/>
                </a:solidFill>
              </a:rPr>
              <a:t>Modeli kaydetme</a:t>
            </a:r>
            <a:endParaRPr lang="en-US" sz="1450" dirty="0"/>
          </a:p>
        </p:txBody>
      </p:sp>
      <p:sp>
        <p:nvSpPr>
          <p:cNvPr id="23" name="Text 21"/>
          <p:cNvSpPr txBox="1"/>
          <p:nvPr/>
        </p:nvSpPr>
        <p:spPr>
          <a:xfrm>
            <a:off x="6278880" y="1828800"/>
            <a:ext cx="2225040" cy="228600"/>
          </a:xfrm>
          <a:prstGeom prst="rect">
            <a:avLst/>
          </a:prstGeom>
          <a:noFill/>
          <a:ln/>
        </p:spPr>
        <p:txBody>
          <a:bodyPr wrap="square" lIns="0" tIns="0" rIns="0" bIns="0" rtlCol="0" anchor="t"/>
          <a:lstStyle/>
          <a:p>
            <a:pPr indent="0" marL="0">
              <a:buNone/>
            </a:pPr>
            <a:r>
              <a:rPr lang="en-US" sz="1050" b="1" dirty="0">
                <a:solidFill>
                  <a:srgbClr val="6B7280"/>
                </a:solidFill>
              </a:rPr>
              <a:t>Önce</a:t>
            </a:r>
            <a:endParaRPr lang="en-US" sz="1050" dirty="0"/>
          </a:p>
        </p:txBody>
      </p:sp>
      <p:sp>
        <p:nvSpPr>
          <p:cNvPr id="24" name="Text 22"/>
          <p:cNvSpPr txBox="1"/>
          <p:nvPr/>
        </p:nvSpPr>
        <p:spPr>
          <a:xfrm>
            <a:off x="6278880" y="2057400"/>
            <a:ext cx="2225040" cy="868680"/>
          </a:xfrm>
          <a:prstGeom prst="rect">
            <a:avLst/>
          </a:prstGeom>
          <a:noFill/>
          <a:ln/>
        </p:spPr>
        <p:txBody>
          <a:bodyPr wrap="square" lIns="0" tIns="0" rIns="0" bIns="0" rtlCol="0" anchor="t"/>
          <a:lstStyle/>
          <a:p>
            <a:pPr indent="0" marL="0">
              <a:buNone/>
            </a:pPr>
            <a:r>
              <a:rPr lang="en-US" sz="1200" dirty="0">
                <a:solidFill>
                  <a:srgbClr val="1F2937"/>
                </a:solidFill>
              </a:rPr>
              <a:t>Model her çalıştırmada yeniden eğitiliyordu.</a:t>
            </a:r>
            <a:endParaRPr lang="en-US" sz="1200" dirty="0"/>
          </a:p>
        </p:txBody>
      </p:sp>
      <p:sp>
        <p:nvSpPr>
          <p:cNvPr id="25" name="Text 23"/>
          <p:cNvSpPr txBox="1"/>
          <p:nvPr/>
        </p:nvSpPr>
        <p:spPr>
          <a:xfrm>
            <a:off x="6278880" y="2926080"/>
            <a:ext cx="2225040" cy="228600"/>
          </a:xfrm>
          <a:prstGeom prst="rect">
            <a:avLst/>
          </a:prstGeom>
          <a:noFill/>
          <a:ln/>
        </p:spPr>
        <p:txBody>
          <a:bodyPr wrap="square" lIns="0" tIns="0" rIns="0" bIns="0" rtlCol="0" anchor="t"/>
          <a:lstStyle/>
          <a:p>
            <a:pPr indent="0" marL="0">
              <a:buNone/>
            </a:pPr>
            <a:r>
              <a:rPr lang="en-US" sz="1050" b="1" dirty="0">
                <a:solidFill>
                  <a:srgbClr val="E76F51"/>
                </a:solidFill>
              </a:rPr>
              <a:t>Öneri → karar</a:t>
            </a:r>
            <a:endParaRPr lang="en-US" sz="1050" dirty="0"/>
          </a:p>
        </p:txBody>
      </p:sp>
      <p:sp>
        <p:nvSpPr>
          <p:cNvPr id="26" name="Text 24"/>
          <p:cNvSpPr txBox="1"/>
          <p:nvPr/>
        </p:nvSpPr>
        <p:spPr>
          <a:xfrm>
            <a:off x="6278880" y="3154680"/>
            <a:ext cx="2225040" cy="1371600"/>
          </a:xfrm>
          <a:prstGeom prst="rect">
            <a:avLst/>
          </a:prstGeom>
          <a:noFill/>
          <a:ln/>
        </p:spPr>
        <p:txBody>
          <a:bodyPr wrap="square" lIns="0" tIns="0" rIns="0" bIns="0" rtlCol="0" anchor="t"/>
          <a:lstStyle/>
          <a:p>
            <a:pPr indent="0" marL="0">
              <a:buNone/>
            </a:pPr>
            <a:r>
              <a:rPr lang="en-US" sz="1200" dirty="0">
                <a:solidFill>
                  <a:srgbClr val="1F2937"/>
                </a:solidFill>
              </a:rPr>
              <a:t>Kaydetmeyi önerdi. Artık models/ klasöründe; tahmin için tekrar eğitmeye gerek yok.</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Üç model, aynı kural: en yüksek CV spam F1</a:t>
            </a:r>
            <a:endParaRPr lang="en-US" sz="3000" dirty="0"/>
          </a:p>
        </p:txBody>
      </p:sp>
      <p:pic>
        <p:nvPicPr>
          <p:cNvPr id="3" name="Image 0" descr="C:\Users\pc\PycharmProjects\sms-spam-model\reports\figures\model_karsilastirma.png">    </p:cNvPr>
          <p:cNvPicPr>
            <a:picLocks noChangeAspect="1"/>
          </p:cNvPicPr>
          <p:nvPr/>
        </p:nvPicPr>
        <p:blipFill>
          <a:blip r:embed="rId1"/>
          <a:srcRect l="0" r="0" t="0" b="0"/>
          <a:stretch/>
        </p:blipFill>
        <p:spPr>
          <a:xfrm>
            <a:off x="457200" y="1005840"/>
            <a:ext cx="4937760" cy="3017520"/>
          </a:xfrm>
          <a:prstGeom prst="rect">
            <a:avLst/>
          </a:prstGeom>
        </p:spPr>
      </p:pic>
      <p:sp>
        <p:nvSpPr>
          <p:cNvPr id="4" name="kart"/>
          <p:cNvSpPr/>
          <p:nvPr/>
        </p:nvSpPr>
        <p:spPr>
          <a:xfrm>
            <a:off x="5669280" y="1097280"/>
            <a:ext cx="3017520" cy="3520440"/>
          </a:xfrm>
          <a:prstGeom prst="roundRect">
            <a:avLst>
              <a:gd name="adj" fmla="val 3636"/>
            </a:avLst>
          </a:prstGeom>
          <a:solidFill>
            <a:srgbClr val="F3F4F6"/>
          </a:solidFill>
          <a:ln w="12700">
            <a:solidFill>
              <a:srgbClr val="F3F4F6"/>
            </a:solidFill>
            <a:prstDash val="solid"/>
          </a:ln>
        </p:spPr>
      </p:sp>
      <p:sp>
        <p:nvSpPr>
          <p:cNvPr id="5" name="Text 2"/>
          <p:cNvSpPr txBox="1"/>
          <p:nvPr/>
        </p:nvSpPr>
        <p:spPr>
          <a:xfrm>
            <a:off x="5852160" y="1234440"/>
            <a:ext cx="2697480" cy="3291840"/>
          </a:xfrm>
          <a:prstGeom prst="rect">
            <a:avLst/>
          </a:prstGeom>
          <a:noFill/>
          <a:ln/>
        </p:spPr>
        <p:txBody>
          <a:bodyPr wrap="square" lIns="0" tIns="0" rIns="0" bIns="0" rtlCol="0" anchor="t"/>
          <a:lstStyle/>
          <a:p>
            <a:pPr indent="0" marL="0">
              <a:buNone/>
            </a:pPr>
            <a:r>
              <a:rPr lang="en-US" sz="1300" b="1" dirty="0">
                <a:solidFill>
                  <a:srgbClr val="E76F51"/>
                </a:solidFill>
              </a:rPr>
              <a:t>CV spam F1</a:t>
            </a:r>
            <a:endParaRPr lang="en-US" sz="1300" dirty="0"/>
          </a:p>
          <a:p>
            <a:pPr indent="0" marL="0">
              <a:buNone/>
            </a:pPr>
            <a:r>
              <a:rPr lang="en-US" sz="1300" dirty="0">
                <a:solidFill>
                  <a:srgbClr val="1F2937"/>
                </a:solidFill>
              </a:rPr>
              <a:t>Naive Bayes  0,944 ± 0,019</a:t>
            </a:r>
            <a:endParaRPr lang="en-US" sz="1300" dirty="0"/>
          </a:p>
          <a:p>
            <a:pPr indent="0" marL="0">
              <a:buNone/>
            </a:pPr>
            <a:r>
              <a:rPr lang="en-US" sz="1300" dirty="0">
                <a:solidFill>
                  <a:srgbClr val="1F2937"/>
                </a:solidFill>
              </a:rPr>
              <a:t>Logistic Reg.  0,951 ± 0,013</a:t>
            </a:r>
            <a:endParaRPr lang="en-US" sz="1300" dirty="0"/>
          </a:p>
          <a:p>
            <a:pPr indent="0" marL="0">
              <a:buNone/>
            </a:pPr>
            <a:r>
              <a:rPr lang="en-US" sz="1300" b="1" dirty="0">
                <a:solidFill>
                  <a:srgbClr val="1F2937"/>
                </a:solidFill>
              </a:rPr>
              <a:t>Linear SVM  0,952 ± 0,014</a:t>
            </a:r>
            <a:endParaRPr lang="en-US" sz="1300" dirty="0"/>
          </a:p>
          <a:p>
            <a:pPr indent="0" marL="0">
              <a:buNone/>
            </a:pPr>
            <a:r>
              <a:rPr lang="en-US" sz="1300" dirty="0">
                <a:solidFill>
                  <a:srgbClr val="1F2937"/>
                </a:solidFill>
              </a:rPr>
              <a:t> </a:t>
            </a:r>
            <a:endParaRPr lang="en-US" sz="1300" dirty="0"/>
          </a:p>
          <a:p>
            <a:pPr indent="0" marL="0">
              <a:buNone/>
            </a:pPr>
            <a:r>
              <a:rPr lang="en-US" sz="1300" dirty="0">
                <a:solidFill>
                  <a:srgbClr val="6B7280"/>
                </a:solidFill>
              </a:rPr>
              <a:t>Farklar standart sapmanın içinde: üçü de uygun. Seçimi önceden koyduğum kurala göre yaptım.</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Test sonuçları: 1.035 mesaj, 131 spam</a:t>
            </a:r>
            <a:endParaRPr lang="en-US" sz="3000" dirty="0"/>
          </a:p>
        </p:txBody>
      </p:sp>
      <p:sp>
        <p:nvSpPr>
          <p:cNvPr id="3" name="Text 1"/>
          <p:cNvSpPr txBox="1"/>
          <p:nvPr/>
        </p:nvSpPr>
        <p:spPr>
          <a:xfrm>
            <a:off x="457200" y="1097280"/>
            <a:ext cx="1600200" cy="685800"/>
          </a:xfrm>
          <a:prstGeom prst="rect">
            <a:avLst/>
          </a:prstGeom>
          <a:noFill/>
          <a:ln/>
        </p:spPr>
        <p:txBody>
          <a:bodyPr wrap="square" lIns="0" tIns="0" rIns="0" bIns="0" rtlCol="0" anchor="t"/>
          <a:lstStyle/>
          <a:p>
            <a:pPr algn="l" indent="0" marL="0">
              <a:buNone/>
            </a:pPr>
            <a:r>
              <a:rPr lang="en-US" sz="3200" b="1" dirty="0">
                <a:solidFill>
                  <a:srgbClr val="E76F51"/>
                </a:solidFill>
                <a:latin typeface="Cambria" pitchFamily="34" charset="0"/>
                <a:ea typeface="Cambria" pitchFamily="34" charset="-122"/>
                <a:cs typeface="Cambria" pitchFamily="34" charset="-120"/>
              </a:rPr>
              <a:t>%90</a:t>
            </a:r>
            <a:endParaRPr lang="en-US" sz="3200" dirty="0"/>
          </a:p>
        </p:txBody>
      </p:sp>
      <p:sp>
        <p:nvSpPr>
          <p:cNvPr id="4" name="Text 2"/>
          <p:cNvSpPr txBox="1"/>
          <p:nvPr/>
        </p:nvSpPr>
        <p:spPr>
          <a:xfrm>
            <a:off x="457200" y="1783080"/>
            <a:ext cx="1600200" cy="457200"/>
          </a:xfrm>
          <a:prstGeom prst="rect">
            <a:avLst/>
          </a:prstGeom>
          <a:noFill/>
          <a:ln/>
        </p:spPr>
        <p:txBody>
          <a:bodyPr wrap="square" lIns="0" tIns="0" rIns="0" bIns="0" rtlCol="0" anchor="t"/>
          <a:lstStyle/>
          <a:p>
            <a:pPr indent="0" marL="0">
              <a:buNone/>
            </a:pPr>
            <a:r>
              <a:rPr lang="en-US" sz="1200" dirty="0">
                <a:solidFill>
                  <a:srgbClr val="6B7280"/>
                </a:solidFill>
              </a:rPr>
              <a:t>Recall: spamlerin yakalanan oranı</a:t>
            </a:r>
            <a:endParaRPr lang="en-US" sz="1200" dirty="0"/>
          </a:p>
        </p:txBody>
      </p:sp>
      <p:sp>
        <p:nvSpPr>
          <p:cNvPr id="5" name="Text 3"/>
          <p:cNvSpPr txBox="1"/>
          <p:nvPr/>
        </p:nvSpPr>
        <p:spPr>
          <a:xfrm>
            <a:off x="2121408" y="1097280"/>
            <a:ext cx="1600200" cy="685800"/>
          </a:xfrm>
          <a:prstGeom prst="rect">
            <a:avLst/>
          </a:prstGeom>
          <a:noFill/>
          <a:ln/>
        </p:spPr>
        <p:txBody>
          <a:bodyPr wrap="square" lIns="0" tIns="0" rIns="0" bIns="0" rtlCol="0" anchor="t"/>
          <a:lstStyle/>
          <a:p>
            <a:pPr algn="l" indent="0" marL="0">
              <a:buNone/>
            </a:pPr>
            <a:r>
              <a:rPr lang="en-US" sz="3200" b="1" dirty="0">
                <a:solidFill>
                  <a:srgbClr val="E76F51"/>
                </a:solidFill>
                <a:latin typeface="Cambria" pitchFamily="34" charset="0"/>
                <a:ea typeface="Cambria" pitchFamily="34" charset="-122"/>
                <a:cs typeface="Cambria" pitchFamily="34" charset="-120"/>
              </a:rPr>
              <a:t>%95</a:t>
            </a:r>
            <a:endParaRPr lang="en-US" sz="3200" dirty="0"/>
          </a:p>
        </p:txBody>
      </p:sp>
      <p:sp>
        <p:nvSpPr>
          <p:cNvPr id="6" name="Text 4"/>
          <p:cNvSpPr txBox="1"/>
          <p:nvPr/>
        </p:nvSpPr>
        <p:spPr>
          <a:xfrm>
            <a:off x="2121408" y="1783080"/>
            <a:ext cx="1600200" cy="457200"/>
          </a:xfrm>
          <a:prstGeom prst="rect">
            <a:avLst/>
          </a:prstGeom>
          <a:noFill/>
          <a:ln/>
        </p:spPr>
        <p:txBody>
          <a:bodyPr wrap="square" lIns="0" tIns="0" rIns="0" bIns="0" rtlCol="0" anchor="t"/>
          <a:lstStyle/>
          <a:p>
            <a:pPr indent="0" marL="0">
              <a:buNone/>
            </a:pPr>
            <a:r>
              <a:rPr lang="en-US" sz="1200" dirty="0">
                <a:solidFill>
                  <a:srgbClr val="6B7280"/>
                </a:solidFill>
              </a:rPr>
              <a:t>Precision: spam dediklerinin doğruluğu</a:t>
            </a:r>
            <a:endParaRPr lang="en-US" sz="1200" dirty="0"/>
          </a:p>
        </p:txBody>
      </p:sp>
      <p:sp>
        <p:nvSpPr>
          <p:cNvPr id="7" name="Text 5"/>
          <p:cNvSpPr txBox="1"/>
          <p:nvPr/>
        </p:nvSpPr>
        <p:spPr>
          <a:xfrm>
            <a:off x="3785616" y="1097280"/>
            <a:ext cx="1600200" cy="685800"/>
          </a:xfrm>
          <a:prstGeom prst="rect">
            <a:avLst/>
          </a:prstGeom>
          <a:noFill/>
          <a:ln/>
        </p:spPr>
        <p:txBody>
          <a:bodyPr wrap="square" lIns="0" tIns="0" rIns="0" bIns="0" rtlCol="0" anchor="t"/>
          <a:lstStyle/>
          <a:p>
            <a:pPr algn="l" indent="0" marL="0">
              <a:buNone/>
            </a:pPr>
            <a:r>
              <a:rPr lang="en-US" sz="3200" b="1" dirty="0">
                <a:solidFill>
                  <a:srgbClr val="E76F51"/>
                </a:solidFill>
                <a:latin typeface="Cambria" pitchFamily="34" charset="0"/>
                <a:ea typeface="Cambria" pitchFamily="34" charset="-122"/>
                <a:cs typeface="Cambria" pitchFamily="34" charset="-120"/>
              </a:rPr>
              <a:t>0,925</a:t>
            </a:r>
            <a:endParaRPr lang="en-US" sz="3200" dirty="0"/>
          </a:p>
        </p:txBody>
      </p:sp>
      <p:sp>
        <p:nvSpPr>
          <p:cNvPr id="8" name="Text 6"/>
          <p:cNvSpPr txBox="1"/>
          <p:nvPr/>
        </p:nvSpPr>
        <p:spPr>
          <a:xfrm>
            <a:off x="3785616" y="1783080"/>
            <a:ext cx="1600200" cy="457200"/>
          </a:xfrm>
          <a:prstGeom prst="rect">
            <a:avLst/>
          </a:prstGeom>
          <a:noFill/>
          <a:ln/>
        </p:spPr>
        <p:txBody>
          <a:bodyPr wrap="square" lIns="0" tIns="0" rIns="0" bIns="0" rtlCol="0" anchor="t"/>
          <a:lstStyle/>
          <a:p>
            <a:pPr indent="0" marL="0">
              <a:buNone/>
            </a:pPr>
            <a:r>
              <a:rPr lang="en-US" sz="1200" dirty="0">
                <a:solidFill>
                  <a:srgbClr val="6B7280"/>
                </a:solidFill>
              </a:rPr>
              <a:t>F1 skoru</a:t>
            </a:r>
            <a:endParaRPr lang="en-US" sz="1200" dirty="0"/>
          </a:p>
        </p:txBody>
      </p:sp>
      <p:sp>
        <p:nvSpPr>
          <p:cNvPr id="9" name="Text 7"/>
          <p:cNvSpPr txBox="1"/>
          <p:nvPr/>
        </p:nvSpPr>
        <p:spPr>
          <a:xfrm>
            <a:off x="5449824" y="1097280"/>
            <a:ext cx="1600200" cy="685800"/>
          </a:xfrm>
          <a:prstGeom prst="rect">
            <a:avLst/>
          </a:prstGeom>
          <a:noFill/>
          <a:ln/>
        </p:spPr>
        <p:txBody>
          <a:bodyPr wrap="square" lIns="0" tIns="0" rIns="0" bIns="0" rtlCol="0" anchor="t"/>
          <a:lstStyle/>
          <a:p>
            <a:pPr algn="l" indent="0" marL="0">
              <a:buNone/>
            </a:pPr>
            <a:r>
              <a:rPr lang="en-US" sz="3200" b="1" dirty="0">
                <a:solidFill>
                  <a:srgbClr val="1B2432"/>
                </a:solidFill>
                <a:latin typeface="Cambria" pitchFamily="34" charset="0"/>
                <a:ea typeface="Cambria" pitchFamily="34" charset="-122"/>
                <a:cs typeface="Cambria" pitchFamily="34" charset="-120"/>
              </a:rPr>
              <a:t>%98,2</a:t>
            </a:r>
            <a:endParaRPr lang="en-US" sz="3200" dirty="0"/>
          </a:p>
        </p:txBody>
      </p:sp>
      <p:sp>
        <p:nvSpPr>
          <p:cNvPr id="10" name="Text 8"/>
          <p:cNvSpPr txBox="1"/>
          <p:nvPr/>
        </p:nvSpPr>
        <p:spPr>
          <a:xfrm>
            <a:off x="5449824" y="1783080"/>
            <a:ext cx="1600200" cy="457200"/>
          </a:xfrm>
          <a:prstGeom prst="rect">
            <a:avLst/>
          </a:prstGeom>
          <a:noFill/>
          <a:ln/>
        </p:spPr>
        <p:txBody>
          <a:bodyPr wrap="square" lIns="0" tIns="0" rIns="0" bIns="0" rtlCol="0" anchor="t"/>
          <a:lstStyle/>
          <a:p>
            <a:pPr indent="0" marL="0">
              <a:buNone/>
            </a:pPr>
            <a:r>
              <a:rPr lang="en-US" sz="1200" dirty="0">
                <a:solidFill>
                  <a:srgbClr val="6B7280"/>
                </a:solidFill>
              </a:rPr>
              <a:t>Accuracy</a:t>
            </a:r>
            <a:endParaRPr lang="en-US" sz="1200" dirty="0"/>
          </a:p>
        </p:txBody>
      </p:sp>
      <p:sp>
        <p:nvSpPr>
          <p:cNvPr id="11" name="Text 9"/>
          <p:cNvSpPr txBox="1"/>
          <p:nvPr/>
        </p:nvSpPr>
        <p:spPr>
          <a:xfrm>
            <a:off x="7114032" y="1097280"/>
            <a:ext cx="1600200" cy="685800"/>
          </a:xfrm>
          <a:prstGeom prst="rect">
            <a:avLst/>
          </a:prstGeom>
          <a:noFill/>
          <a:ln/>
        </p:spPr>
        <p:txBody>
          <a:bodyPr wrap="square" lIns="0" tIns="0" rIns="0" bIns="0" rtlCol="0" anchor="t"/>
          <a:lstStyle/>
          <a:p>
            <a:pPr algn="l" indent="0" marL="0">
              <a:buNone/>
            </a:pPr>
            <a:r>
              <a:rPr lang="en-US" sz="3200" b="1" dirty="0">
                <a:solidFill>
                  <a:srgbClr val="1B2432"/>
                </a:solidFill>
                <a:latin typeface="Cambria" pitchFamily="34" charset="0"/>
                <a:ea typeface="Cambria" pitchFamily="34" charset="-122"/>
                <a:cs typeface="Cambria" pitchFamily="34" charset="-120"/>
              </a:rPr>
              <a:t>0,992</a:t>
            </a:r>
            <a:endParaRPr lang="en-US" sz="3200" dirty="0"/>
          </a:p>
        </p:txBody>
      </p:sp>
      <p:sp>
        <p:nvSpPr>
          <p:cNvPr id="12" name="Text 10"/>
          <p:cNvSpPr txBox="1"/>
          <p:nvPr/>
        </p:nvSpPr>
        <p:spPr>
          <a:xfrm>
            <a:off x="7114032" y="1783080"/>
            <a:ext cx="1600200" cy="457200"/>
          </a:xfrm>
          <a:prstGeom prst="rect">
            <a:avLst/>
          </a:prstGeom>
          <a:noFill/>
          <a:ln/>
        </p:spPr>
        <p:txBody>
          <a:bodyPr wrap="square" lIns="0" tIns="0" rIns="0" bIns="0" rtlCol="0" anchor="t"/>
          <a:lstStyle/>
          <a:p>
            <a:pPr indent="0" marL="0">
              <a:buNone/>
            </a:pPr>
            <a:r>
              <a:rPr lang="en-US" sz="1200" dirty="0">
                <a:solidFill>
                  <a:srgbClr val="6B7280"/>
                </a:solidFill>
              </a:rPr>
              <a:t>ROC AUC</a:t>
            </a:r>
            <a:endParaRPr lang="en-US" sz="1200" dirty="0"/>
          </a:p>
        </p:txBody>
      </p:sp>
      <p:graphicFrame>
        <p:nvGraphicFramePr>
          <p:cNvPr id="13" name="Chart 0" descr=""/>
          <p:cNvGraphicFramePr/>
          <p:nvPr/>
        </p:nvGraphicFramePr>
        <p:xfrm>
          <a:off x="457200" y="2423160"/>
          <a:ext cx="4754880" cy="2240280"/>
        </p:xfrm>
        <a:graphic xmlns:a="http://schemas.openxmlformats.org/drawingml/2006/main">
          <a:graphicData uri="http://schemas.openxmlformats.org/drawingml/2006/chart">
            <c:chart xmlns:c="http://schemas.openxmlformats.org/drawingml/2006/chart" r:id="rId1"/>
          </a:graphicData>
        </a:graphic>
      </p:graphicFrame>
      <p:pic>
        <p:nvPicPr>
          <p:cNvPr id="14" name="Image 0" descr="C:\Users\pc\PycharmProjects\sms-spam-model\reports\figures\hata_matrisi.png">    </p:cNvPr>
          <p:cNvPicPr>
            <a:picLocks noChangeAspect="1"/>
          </p:cNvPicPr>
          <p:nvPr/>
        </p:nvPicPr>
        <p:blipFill>
          <a:blip r:embed="rId2"/>
          <a:srcRect l="0" r="0" t="0" b="0"/>
          <a:stretch/>
        </p:blipFill>
        <p:spPr>
          <a:xfrm>
            <a:off x="5577840" y="2377440"/>
            <a:ext cx="3108960" cy="2331720"/>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ROC eğrisi ve öğrenme eğrisi</a:t>
            </a:r>
            <a:endParaRPr lang="en-US" sz="3000" dirty="0"/>
          </a:p>
        </p:txBody>
      </p:sp>
      <p:pic>
        <p:nvPicPr>
          <p:cNvPr id="3" name="Image 0" descr="C:\Users\pc\PycharmProjects\sms-spam-model\reports\figures\roc_egrisi.png">    </p:cNvPr>
          <p:cNvPicPr>
            <a:picLocks noChangeAspect="1"/>
          </p:cNvPicPr>
          <p:nvPr/>
        </p:nvPicPr>
        <p:blipFill>
          <a:blip r:embed="rId1"/>
          <a:srcRect l="0" r="0" t="0" b="0"/>
          <a:stretch/>
        </p:blipFill>
        <p:spPr>
          <a:xfrm>
            <a:off x="457200" y="960120"/>
            <a:ext cx="3931920" cy="3108960"/>
          </a:xfrm>
          <a:prstGeom prst="rect">
            <a:avLst/>
          </a:prstGeom>
        </p:spPr>
      </p:pic>
      <p:pic>
        <p:nvPicPr>
          <p:cNvPr id="4" name="Image 1" descr="C:\Users\pc\PycharmProjects\sms-spam-model\reports\figures\ogrenme_egrisi.png">    </p:cNvPr>
          <p:cNvPicPr>
            <a:picLocks noChangeAspect="1"/>
          </p:cNvPicPr>
          <p:nvPr/>
        </p:nvPicPr>
        <p:blipFill>
          <a:blip r:embed="rId2"/>
          <a:srcRect l="0" r="0" t="0" b="0"/>
          <a:stretch/>
        </p:blipFill>
        <p:spPr>
          <a:xfrm>
            <a:off x="4663440" y="960120"/>
            <a:ext cx="4023360" cy="3108960"/>
          </a:xfrm>
          <a:prstGeom prst="rect">
            <a:avLst/>
          </a:prstGeom>
        </p:spPr>
      </p:pic>
      <p:sp>
        <p:nvSpPr>
          <p:cNvPr id="5" name="Text 1"/>
          <p:cNvSpPr txBox="1"/>
          <p:nvPr/>
        </p:nvSpPr>
        <p:spPr>
          <a:xfrm>
            <a:off x="457200" y="4114800"/>
            <a:ext cx="3931920" cy="594360"/>
          </a:xfrm>
          <a:prstGeom prst="rect">
            <a:avLst/>
          </a:prstGeom>
          <a:noFill/>
          <a:ln/>
        </p:spPr>
        <p:txBody>
          <a:bodyPr wrap="square" lIns="0" tIns="0" rIns="0" bIns="0" rtlCol="0" anchor="t"/>
          <a:lstStyle/>
          <a:p>
            <a:pPr indent="0" marL="0">
              <a:buNone/>
            </a:pPr>
            <a:r>
              <a:rPr lang="en-US" sz="1200" dirty="0">
                <a:solidFill>
                  <a:srgbClr val="6B7280"/>
                </a:solidFill>
              </a:rPr>
              <a:t>İlk NB'nin AUC'si bile 0,982: kelimeleri iyi sıralıyordu, sorun karar eşiğindeydi.</a:t>
            </a:r>
            <a:endParaRPr lang="en-US" sz="1200" dirty="0"/>
          </a:p>
        </p:txBody>
      </p:sp>
      <p:sp>
        <p:nvSpPr>
          <p:cNvPr id="6" name="Text 2"/>
          <p:cNvSpPr txBox="1"/>
          <p:nvPr/>
        </p:nvSpPr>
        <p:spPr>
          <a:xfrm>
            <a:off x="4663440" y="4114800"/>
            <a:ext cx="4023360" cy="594360"/>
          </a:xfrm>
          <a:prstGeom prst="rect">
            <a:avLst/>
          </a:prstGeom>
          <a:noFill/>
          <a:ln/>
        </p:spPr>
        <p:txBody>
          <a:bodyPr wrap="square" lIns="0" tIns="0" rIns="0" bIns="0" rtlCol="0" anchor="t"/>
          <a:lstStyle/>
          <a:p>
            <a:pPr indent="0" marL="0">
              <a:buNone/>
            </a:pPr>
            <a:r>
              <a:rPr lang="en-US" sz="1200" dirty="0">
                <a:solidFill>
                  <a:srgbClr val="6B7280"/>
                </a:solidFill>
              </a:rPr>
              <a:t>Doğrulama F1 veri arttıkça 0,88'den 0,95'e çıkıyor ve düzleşiyor: daha çok veri az kazandırır.</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85800"/>
          </a:xfrm>
          <a:prstGeom prst="rect">
            <a:avLst/>
          </a:prstGeom>
          <a:noFill/>
          <a:ln/>
        </p:spPr>
        <p:txBody>
          <a:bodyPr wrap="square"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Avantajlar ve sınırlar</a:t>
            </a:r>
            <a:endParaRPr lang="en-US" sz="3000" dirty="0"/>
          </a:p>
        </p:txBody>
      </p:sp>
      <p:sp>
        <p:nvSpPr>
          <p:cNvPr id="3" name="kart"/>
          <p:cNvSpPr/>
          <p:nvPr/>
        </p:nvSpPr>
        <p:spPr>
          <a:xfrm>
            <a:off x="457200" y="1097280"/>
            <a:ext cx="4023360" cy="3520440"/>
          </a:xfrm>
          <a:prstGeom prst="roundRect">
            <a:avLst>
              <a:gd name="adj" fmla="val 3117"/>
            </a:avLst>
          </a:prstGeom>
          <a:solidFill>
            <a:srgbClr val="F3F4F6"/>
          </a:solidFill>
          <a:ln w="12700">
            <a:solidFill>
              <a:srgbClr val="F3F4F6"/>
            </a:solidFill>
            <a:prstDash val="solid"/>
          </a:ln>
        </p:spPr>
      </p:sp>
      <p:sp>
        <p:nvSpPr>
          <p:cNvPr id="4" name="Shape 2"/>
          <p:cNvSpPr/>
          <p:nvPr/>
        </p:nvSpPr>
        <p:spPr>
          <a:xfrm>
            <a:off x="685800" y="1261872"/>
            <a:ext cx="457200" cy="457200"/>
          </a:xfrm>
          <a:prstGeom prst="ellipse">
            <a:avLst/>
          </a:prstGeom>
          <a:solidFill>
            <a:srgbClr val="2A9D8F"/>
          </a:solidFill>
          <a:ln w="12700">
            <a:solidFill>
              <a:srgbClr val="2A9D8F"/>
            </a:solidFill>
            <a:prstDash val="solid"/>
          </a:ln>
        </p:spPr>
      </p:sp>
      <p:sp>
        <p:nvSpPr>
          <p:cNvPr id="5" name="Text 3"/>
          <p:cNvSpPr txBox="1"/>
          <p:nvPr/>
        </p:nvSpPr>
        <p:spPr>
          <a:xfrm>
            <a:off x="685800" y="12618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6" name="Text 4"/>
          <p:cNvSpPr txBox="1"/>
          <p:nvPr/>
        </p:nvSpPr>
        <p:spPr>
          <a:xfrm>
            <a:off x="1280160" y="1307592"/>
            <a:ext cx="3017520" cy="365760"/>
          </a:xfrm>
          <a:prstGeom prst="rect">
            <a:avLst/>
          </a:prstGeom>
          <a:noFill/>
          <a:ln/>
        </p:spPr>
        <p:txBody>
          <a:bodyPr wrap="square" lIns="0" tIns="0" rIns="0" bIns="0" rtlCol="0" anchor="t"/>
          <a:lstStyle/>
          <a:p>
            <a:pPr indent="0" marL="0">
              <a:buNone/>
            </a:pPr>
            <a:r>
              <a:rPr lang="en-US" sz="1800" b="1" dirty="0">
                <a:solidFill>
                  <a:srgbClr val="2A9D8F"/>
                </a:solidFill>
              </a:rPr>
              <a:t>Güçlü yanlar</a:t>
            </a:r>
            <a:endParaRPr lang="en-US" sz="1800" dirty="0"/>
          </a:p>
        </p:txBody>
      </p:sp>
      <p:sp>
        <p:nvSpPr>
          <p:cNvPr id="7" name="Shape 5"/>
          <p:cNvSpPr/>
          <p:nvPr/>
        </p:nvSpPr>
        <p:spPr>
          <a:xfrm>
            <a:off x="804672" y="1993392"/>
            <a:ext cx="128016" cy="128016"/>
          </a:xfrm>
          <a:prstGeom prst="ellipse">
            <a:avLst/>
          </a:prstGeom>
          <a:solidFill>
            <a:srgbClr val="2A9D8F"/>
          </a:solidFill>
          <a:ln w="12700">
            <a:solidFill>
              <a:srgbClr val="2A9D8F"/>
            </a:solidFill>
            <a:prstDash val="solid"/>
          </a:ln>
        </p:spPr>
      </p:sp>
      <p:sp>
        <p:nvSpPr>
          <p:cNvPr id="8" name="Text 6"/>
          <p:cNvSpPr txBox="1"/>
          <p:nvPr/>
        </p:nvSpPr>
        <p:spPr>
          <a:xfrm>
            <a:off x="1097280" y="1874520"/>
            <a:ext cx="3246120" cy="548640"/>
          </a:xfrm>
          <a:prstGeom prst="rect">
            <a:avLst/>
          </a:prstGeom>
          <a:noFill/>
          <a:ln/>
        </p:spPr>
        <p:txBody>
          <a:bodyPr wrap="square" lIns="0" tIns="0" rIns="0" bIns="0" rtlCol="0" anchor="t"/>
          <a:lstStyle/>
          <a:p>
            <a:pPr indent="0" marL="0">
              <a:buNone/>
            </a:pPr>
            <a:r>
              <a:rPr lang="en-US" sz="1350" dirty="0">
                <a:solidFill>
                  <a:srgbClr val="1F2937"/>
                </a:solidFill>
              </a:rPr>
              <a:t>Yüksek boyutlu, seyrek metinde hızlı ve güçlü</a:t>
            </a:r>
            <a:endParaRPr lang="en-US" sz="1350" dirty="0"/>
          </a:p>
        </p:txBody>
      </p:sp>
      <p:sp>
        <p:nvSpPr>
          <p:cNvPr id="9" name="Shape 7"/>
          <p:cNvSpPr/>
          <p:nvPr/>
        </p:nvSpPr>
        <p:spPr>
          <a:xfrm>
            <a:off x="804672" y="2615184"/>
            <a:ext cx="128016" cy="128016"/>
          </a:xfrm>
          <a:prstGeom prst="ellipse">
            <a:avLst/>
          </a:prstGeom>
          <a:solidFill>
            <a:srgbClr val="2A9D8F"/>
          </a:solidFill>
          <a:ln w="12700">
            <a:solidFill>
              <a:srgbClr val="2A9D8F"/>
            </a:solidFill>
            <a:prstDash val="solid"/>
          </a:ln>
        </p:spPr>
      </p:sp>
      <p:sp>
        <p:nvSpPr>
          <p:cNvPr id="10" name="Text 8"/>
          <p:cNvSpPr txBox="1"/>
          <p:nvPr/>
        </p:nvSpPr>
        <p:spPr>
          <a:xfrm>
            <a:off x="1097280" y="2496312"/>
            <a:ext cx="3246120" cy="548640"/>
          </a:xfrm>
          <a:prstGeom prst="rect">
            <a:avLst/>
          </a:prstGeom>
          <a:noFill/>
          <a:ln/>
        </p:spPr>
        <p:txBody>
          <a:bodyPr wrap="square" lIns="0" tIns="0" rIns="0" bIns="0" rtlCol="0" anchor="t"/>
          <a:lstStyle/>
          <a:p>
            <a:pPr indent="0" marL="0">
              <a:buNone/>
            </a:pPr>
            <a:r>
              <a:rPr lang="en-US" sz="1350" dirty="0">
                <a:solidFill>
                  <a:srgbClr val="1F2937"/>
                </a:solidFill>
              </a:rPr>
              <a:t>Ağırlıklar yorumlanabilir (hangi kelime spam?)</a:t>
            </a:r>
            <a:endParaRPr lang="en-US" sz="1350" dirty="0"/>
          </a:p>
        </p:txBody>
      </p:sp>
      <p:sp>
        <p:nvSpPr>
          <p:cNvPr id="11" name="Shape 9"/>
          <p:cNvSpPr/>
          <p:nvPr/>
        </p:nvSpPr>
        <p:spPr>
          <a:xfrm>
            <a:off x="804672" y="3236976"/>
            <a:ext cx="128016" cy="128016"/>
          </a:xfrm>
          <a:prstGeom prst="ellipse">
            <a:avLst/>
          </a:prstGeom>
          <a:solidFill>
            <a:srgbClr val="2A9D8F"/>
          </a:solidFill>
          <a:ln w="12700">
            <a:solidFill>
              <a:srgbClr val="2A9D8F"/>
            </a:solidFill>
            <a:prstDash val="solid"/>
          </a:ln>
        </p:spPr>
      </p:sp>
      <p:sp>
        <p:nvSpPr>
          <p:cNvPr id="12" name="Text 10"/>
          <p:cNvSpPr txBox="1"/>
          <p:nvPr/>
        </p:nvSpPr>
        <p:spPr>
          <a:xfrm>
            <a:off x="1097280" y="3118104"/>
            <a:ext cx="3246120" cy="548640"/>
          </a:xfrm>
          <a:prstGeom prst="rect">
            <a:avLst/>
          </a:prstGeom>
          <a:noFill/>
          <a:ln/>
        </p:spPr>
        <p:txBody>
          <a:bodyPr wrap="square" lIns="0" tIns="0" rIns="0" bIns="0" rtlCol="0" anchor="t"/>
          <a:lstStyle/>
          <a:p>
            <a:pPr indent="0" marL="0">
              <a:buNone/>
            </a:pPr>
            <a:r>
              <a:rPr lang="en-US" sz="1350" dirty="0">
                <a:solidFill>
                  <a:srgbClr val="1F2937"/>
                </a:solidFill>
              </a:rPr>
              <a:t>class_weight ile dengesiz veriye uyum</a:t>
            </a:r>
            <a:endParaRPr lang="en-US" sz="1350" dirty="0"/>
          </a:p>
        </p:txBody>
      </p:sp>
      <p:sp>
        <p:nvSpPr>
          <p:cNvPr id="13" name="Shape 11"/>
          <p:cNvSpPr/>
          <p:nvPr/>
        </p:nvSpPr>
        <p:spPr>
          <a:xfrm>
            <a:off x="804672" y="3858768"/>
            <a:ext cx="128016" cy="128016"/>
          </a:xfrm>
          <a:prstGeom prst="ellipse">
            <a:avLst/>
          </a:prstGeom>
          <a:solidFill>
            <a:srgbClr val="2A9D8F"/>
          </a:solidFill>
          <a:ln w="12700">
            <a:solidFill>
              <a:srgbClr val="2A9D8F"/>
            </a:solidFill>
            <a:prstDash val="solid"/>
          </a:ln>
        </p:spPr>
      </p:sp>
      <p:sp>
        <p:nvSpPr>
          <p:cNvPr id="14" name="Text 12"/>
          <p:cNvSpPr txBox="1"/>
          <p:nvPr/>
        </p:nvSpPr>
        <p:spPr>
          <a:xfrm>
            <a:off x="1097280" y="3739896"/>
            <a:ext cx="3246120" cy="548640"/>
          </a:xfrm>
          <a:prstGeom prst="rect">
            <a:avLst/>
          </a:prstGeom>
          <a:noFill/>
          <a:ln/>
        </p:spPr>
        <p:txBody>
          <a:bodyPr wrap="square" lIns="0" tIns="0" rIns="0" bIns="0" rtlCol="0" anchor="t"/>
          <a:lstStyle/>
          <a:p>
            <a:pPr indent="0" marL="0">
              <a:buNone/>
            </a:pPr>
            <a:r>
              <a:rPr lang="en-US" sz="1350" dirty="0">
                <a:solidFill>
                  <a:srgbClr val="1F2937"/>
                </a:solidFill>
              </a:rPr>
              <a:t>Az ayarla (C) iyi sonuç</a:t>
            </a:r>
            <a:endParaRPr lang="en-US" sz="1350" dirty="0"/>
          </a:p>
        </p:txBody>
      </p:sp>
      <p:sp>
        <p:nvSpPr>
          <p:cNvPr id="15" name="kart"/>
          <p:cNvSpPr/>
          <p:nvPr/>
        </p:nvSpPr>
        <p:spPr>
          <a:xfrm>
            <a:off x="4663440" y="1097280"/>
            <a:ext cx="4023360" cy="3520440"/>
          </a:xfrm>
          <a:prstGeom prst="roundRect">
            <a:avLst>
              <a:gd name="adj" fmla="val 3117"/>
            </a:avLst>
          </a:prstGeom>
          <a:solidFill>
            <a:srgbClr val="F3F4F6"/>
          </a:solidFill>
          <a:ln w="12700">
            <a:solidFill>
              <a:srgbClr val="F3F4F6"/>
            </a:solidFill>
            <a:prstDash val="solid"/>
          </a:ln>
        </p:spPr>
      </p:sp>
      <p:sp>
        <p:nvSpPr>
          <p:cNvPr id="16" name="Shape 14"/>
          <p:cNvSpPr/>
          <p:nvPr/>
        </p:nvSpPr>
        <p:spPr>
          <a:xfrm>
            <a:off x="4892040" y="1261872"/>
            <a:ext cx="457200" cy="457200"/>
          </a:xfrm>
          <a:prstGeom prst="ellipse">
            <a:avLst/>
          </a:prstGeom>
          <a:solidFill>
            <a:srgbClr val="C0392B"/>
          </a:solidFill>
          <a:ln w="12700">
            <a:solidFill>
              <a:srgbClr val="C0392B"/>
            </a:solidFill>
            <a:prstDash val="solid"/>
          </a:ln>
        </p:spPr>
      </p:sp>
      <p:sp>
        <p:nvSpPr>
          <p:cNvPr id="17" name="Text 15"/>
          <p:cNvSpPr txBox="1"/>
          <p:nvPr/>
        </p:nvSpPr>
        <p:spPr>
          <a:xfrm>
            <a:off x="4892040" y="12618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8" name="Text 16"/>
          <p:cNvSpPr txBox="1"/>
          <p:nvPr/>
        </p:nvSpPr>
        <p:spPr>
          <a:xfrm>
            <a:off x="5486400" y="1307592"/>
            <a:ext cx="3017520" cy="365760"/>
          </a:xfrm>
          <a:prstGeom prst="rect">
            <a:avLst/>
          </a:prstGeom>
          <a:noFill/>
          <a:ln/>
        </p:spPr>
        <p:txBody>
          <a:bodyPr wrap="square" lIns="0" tIns="0" rIns="0" bIns="0" rtlCol="0" anchor="t"/>
          <a:lstStyle/>
          <a:p>
            <a:pPr indent="0" marL="0">
              <a:buNone/>
            </a:pPr>
            <a:r>
              <a:rPr lang="en-US" sz="1800" b="1" dirty="0">
                <a:solidFill>
                  <a:srgbClr val="C0392B"/>
                </a:solidFill>
              </a:rPr>
              <a:t>Sınırlar</a:t>
            </a:r>
            <a:endParaRPr lang="en-US" sz="1800" dirty="0"/>
          </a:p>
        </p:txBody>
      </p:sp>
      <p:sp>
        <p:nvSpPr>
          <p:cNvPr id="19" name="Shape 17"/>
          <p:cNvSpPr/>
          <p:nvPr/>
        </p:nvSpPr>
        <p:spPr>
          <a:xfrm>
            <a:off x="5010912" y="1993392"/>
            <a:ext cx="128016" cy="128016"/>
          </a:xfrm>
          <a:prstGeom prst="ellipse">
            <a:avLst/>
          </a:prstGeom>
          <a:solidFill>
            <a:srgbClr val="C0392B"/>
          </a:solidFill>
          <a:ln w="12700">
            <a:solidFill>
              <a:srgbClr val="C0392B"/>
            </a:solidFill>
            <a:prstDash val="solid"/>
          </a:ln>
        </p:spPr>
      </p:sp>
      <p:sp>
        <p:nvSpPr>
          <p:cNvPr id="20" name="Text 18"/>
          <p:cNvSpPr txBox="1"/>
          <p:nvPr/>
        </p:nvSpPr>
        <p:spPr>
          <a:xfrm>
            <a:off x="5303520" y="1874520"/>
            <a:ext cx="3246120" cy="548640"/>
          </a:xfrm>
          <a:prstGeom prst="rect">
            <a:avLst/>
          </a:prstGeom>
          <a:noFill/>
          <a:ln/>
        </p:spPr>
        <p:txBody>
          <a:bodyPr wrap="square" lIns="0" tIns="0" rIns="0" bIns="0" rtlCol="0" anchor="t"/>
          <a:lstStyle/>
          <a:p>
            <a:pPr indent="0" marL="0">
              <a:buNone/>
            </a:pPr>
            <a:r>
              <a:rPr lang="en-US" sz="1350" dirty="0">
                <a:solidFill>
                  <a:srgbClr val="1F2937"/>
                </a:solidFill>
              </a:rPr>
              <a:t>Kelime sırasını ve anlamı görmez</a:t>
            </a:r>
            <a:endParaRPr lang="en-US" sz="1350" dirty="0"/>
          </a:p>
        </p:txBody>
      </p:sp>
      <p:sp>
        <p:nvSpPr>
          <p:cNvPr id="21" name="Shape 19"/>
          <p:cNvSpPr/>
          <p:nvPr/>
        </p:nvSpPr>
        <p:spPr>
          <a:xfrm>
            <a:off x="5010912" y="2615184"/>
            <a:ext cx="128016" cy="128016"/>
          </a:xfrm>
          <a:prstGeom prst="ellipse">
            <a:avLst/>
          </a:prstGeom>
          <a:solidFill>
            <a:srgbClr val="C0392B"/>
          </a:solidFill>
          <a:ln w="12700">
            <a:solidFill>
              <a:srgbClr val="C0392B"/>
            </a:solidFill>
            <a:prstDash val="solid"/>
          </a:ln>
        </p:spPr>
      </p:sp>
      <p:sp>
        <p:nvSpPr>
          <p:cNvPr id="22" name="Text 20"/>
          <p:cNvSpPr txBox="1"/>
          <p:nvPr/>
        </p:nvSpPr>
        <p:spPr>
          <a:xfrm>
            <a:off x="5303520" y="2496312"/>
            <a:ext cx="3246120" cy="548640"/>
          </a:xfrm>
          <a:prstGeom prst="rect">
            <a:avLst/>
          </a:prstGeom>
          <a:noFill/>
          <a:ln/>
        </p:spPr>
        <p:txBody>
          <a:bodyPr wrap="square" lIns="0" tIns="0" rIns="0" bIns="0" rtlCol="0" anchor="t"/>
          <a:lstStyle/>
          <a:p>
            <a:pPr indent="0" marL="0">
              <a:buNone/>
            </a:pPr>
            <a:r>
              <a:rPr lang="en-US" sz="1350" dirty="0">
                <a:solidFill>
                  <a:srgbClr val="1F2937"/>
                </a:solidFill>
              </a:rPr>
              <a:t>Olasılık değil skor üretir</a:t>
            </a:r>
            <a:endParaRPr lang="en-US" sz="1350" dirty="0"/>
          </a:p>
        </p:txBody>
      </p:sp>
      <p:sp>
        <p:nvSpPr>
          <p:cNvPr id="23" name="Shape 21"/>
          <p:cNvSpPr/>
          <p:nvPr/>
        </p:nvSpPr>
        <p:spPr>
          <a:xfrm>
            <a:off x="5010912" y="3236976"/>
            <a:ext cx="128016" cy="128016"/>
          </a:xfrm>
          <a:prstGeom prst="ellipse">
            <a:avLst/>
          </a:prstGeom>
          <a:solidFill>
            <a:srgbClr val="C0392B"/>
          </a:solidFill>
          <a:ln w="12700">
            <a:solidFill>
              <a:srgbClr val="C0392B"/>
            </a:solidFill>
            <a:prstDash val="solid"/>
          </a:ln>
        </p:spPr>
      </p:sp>
      <p:sp>
        <p:nvSpPr>
          <p:cNvPr id="24" name="Text 22"/>
          <p:cNvSpPr txBox="1"/>
          <p:nvPr/>
        </p:nvSpPr>
        <p:spPr>
          <a:xfrm>
            <a:off x="5303520" y="3118104"/>
            <a:ext cx="3246120" cy="548640"/>
          </a:xfrm>
          <a:prstGeom prst="rect">
            <a:avLst/>
          </a:prstGeom>
          <a:noFill/>
          <a:ln/>
        </p:spPr>
        <p:txBody>
          <a:bodyPr wrap="square" lIns="0" tIns="0" rIns="0" bIns="0" rtlCol="0" anchor="t"/>
          <a:lstStyle/>
          <a:p>
            <a:pPr indent="0" marL="0">
              <a:buNone/>
            </a:pPr>
            <a:r>
              <a:rPr lang="en-US" sz="1350" dirty="0">
                <a:solidFill>
                  <a:srgbClr val="1F2937"/>
                </a:solidFill>
              </a:rPr>
              <a:t>2011 öncesi İngilizce veri; Türkçe denenmedi</a:t>
            </a:r>
            <a:endParaRPr lang="en-US" sz="1350" dirty="0"/>
          </a:p>
        </p:txBody>
      </p:sp>
      <p:sp>
        <p:nvSpPr>
          <p:cNvPr id="25" name="Shape 23"/>
          <p:cNvSpPr/>
          <p:nvPr/>
        </p:nvSpPr>
        <p:spPr>
          <a:xfrm>
            <a:off x="5010912" y="3858768"/>
            <a:ext cx="128016" cy="128016"/>
          </a:xfrm>
          <a:prstGeom prst="ellipse">
            <a:avLst/>
          </a:prstGeom>
          <a:solidFill>
            <a:srgbClr val="C0392B"/>
          </a:solidFill>
          <a:ln w="12700">
            <a:solidFill>
              <a:srgbClr val="C0392B"/>
            </a:solidFill>
            <a:prstDash val="solid"/>
          </a:ln>
        </p:spPr>
      </p:sp>
      <p:sp>
        <p:nvSpPr>
          <p:cNvPr id="26" name="Text 24"/>
          <p:cNvSpPr txBox="1"/>
          <p:nvPr/>
        </p:nvSpPr>
        <p:spPr>
          <a:xfrm>
            <a:off x="5303520" y="3739896"/>
            <a:ext cx="3246120" cy="548640"/>
          </a:xfrm>
          <a:prstGeom prst="rect">
            <a:avLst/>
          </a:prstGeom>
          <a:noFill/>
          <a:ln/>
        </p:spPr>
        <p:txBody>
          <a:bodyPr wrap="square" lIns="0" tIns="0" rIns="0" bIns="0" rtlCol="0" anchor="t"/>
          <a:lstStyle/>
          <a:p>
            <a:pPr indent="0" marL="0">
              <a:buNone/>
            </a:pPr>
            <a:r>
              <a:rPr lang="en-US" sz="1350" dirty="0">
                <a:solidFill>
                  <a:srgbClr val="1F2937"/>
                </a:solidFill>
              </a:rPr>
              <a:t>Benzer spam kampanyaları test sonucunu biraz şişirebilir</a:t>
            </a:r>
            <a:endParaRPr lang="en-US" sz="13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914400"/>
          </a:xfrm>
          <a:prstGeom prst="rect">
            <a:avLst/>
          </a:prstGeom>
          <a:noFill/>
          <a:ln/>
        </p:spPr>
        <p:txBody>
          <a:bodyPr wrap="square"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Sonuç</a:t>
            </a:r>
            <a:endParaRPr lang="en-US" sz="3600" dirty="0"/>
          </a:p>
        </p:txBody>
      </p:sp>
      <p:sp>
        <p:nvSpPr>
          <p:cNvPr id="3" name="Text 0"/>
          <p:cNvSpPr/>
          <p:nvPr>
            <p:ph idx="101" type="body" hasCustomPrompt="1"/>
          </p:nvPr>
        </p:nvSpPr>
        <p:spPr>
          <a:xfrm>
            <a:off x="548640" y="2743200"/>
            <a:ext cx="8046720" cy="822960"/>
          </a:xfrm>
          <a:prstGeom prst="rect">
            <a:avLst/>
          </a:prstGeom>
          <a:noFill/>
          <a:ln/>
        </p:spPr>
        <p:txBody>
          <a:bodyPr wrap="square" rtlCol="0" anchor="t"/>
          <a:lstStyle/>
          <a:p>
            <a:pPr marL="342900" indent="-342900">
              <a:buSzPct val="100000"/>
              <a:buChar char="•"/>
            </a:pPr>
            <a:r>
              <a:rPr lang="en-US" sz="1600" dirty="0">
                <a:solidFill>
                  <a:srgbClr val="D1D5DB"/>
                </a:solidFill>
              </a:rPr>
              <a:t>Kaçırılan spam 49'dan 13'e indi; spam F1 0,770 → 0,925</a:t>
            </a:r>
            <a:endParaRPr lang="en-US" sz="1600" dirty="0"/>
          </a:p>
          <a:p>
            <a:pPr marL="342900" indent="-342900">
              <a:buSzPct val="100000"/>
              <a:buChar char="•"/>
            </a:pPr>
            <a:r>
              <a:rPr lang="en-US" sz="1600" dirty="0">
                <a:solidFill>
                  <a:srgbClr val="D1D5DB"/>
                </a:solidFill>
              </a:rPr>
              <a:t>Üç model önceden belirlenmiş kuralla karşılaştırıldı; test verisi sadece en sonda kullanıldı</a:t>
            </a:r>
            <a:endParaRPr lang="en-US" sz="1600" dirty="0"/>
          </a:p>
          <a:p>
            <a:pPr marL="342900" indent="-342900">
              <a:buSzPct val="100000"/>
              <a:buChar char="•"/>
            </a:pPr>
            <a:r>
              <a:rPr lang="en-US" sz="1600" dirty="0">
                <a:solidFill>
                  <a:srgbClr val="D1D5DB"/>
                </a:solidFill>
              </a:rPr>
              <a:t>Kod, model, grafikler ve rapor: github.com/yagizefecsoy/sms-spam-model</a:t>
            </a:r>
            <a:endParaRPr lang="en-US" sz="1600" dirty="0"/>
          </a:p>
        </p:txBody>
      </p:sp>
    </p:spTree>
  </p:cSld>
  <p:clrMapOvr>
    <a:masterClrMapping/>
  </p:clrMapOvr>
</p:sld>
</file>

<file path=ppt/theme/theme1.xml><?xml version="1.0" encoding="utf-8"?>
<a:theme xmlns:a="http://schemas.openxmlformats.org/drawingml/2006/main" name="SMS Spam">
  <a:themeElements>
    <a:clrScheme name="SMS Spam">
      <a:dk1>
        <a:srgbClr val="1F2937"/>
      </a:dk1>
      <a:lt1>
        <a:srgbClr val="FFFFFF"/>
      </a:lt1>
      <a:dk2>
        <a:srgbClr val="1B2432"/>
      </a:dk2>
      <a:lt2>
        <a:srgbClr val="F3F4F6"/>
      </a:lt2>
      <a:accent1>
        <a:srgbClr val="E76F51"/>
      </a:accent1>
      <a:accent2>
        <a:srgbClr val="2A9D8F"/>
      </a:accent2>
      <a:accent3>
        <a:srgbClr val="264653"/>
      </a:accent3>
      <a:accent4>
        <a:srgbClr val="9CA3AF"/>
      </a:accent4>
      <a:accent5>
        <a:srgbClr val="264653"/>
      </a:accent5>
      <a:accent6>
        <a:srgbClr val="E9C46A"/>
      </a:accent6>
      <a:hlink>
        <a:srgbClr val="E76F51"/>
      </a:hlink>
      <a:folHlink>
        <a:srgbClr val="2A9D8F"/>
      </a:folHlink>
    </a:clrScheme>
    <a:fontScheme name="SMS Spa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SVM ile SMS Spam Tespiti</dc:title>
  <dc:subject>PptxGenJS Presentation</dc:subject>
  <dc:creator>Yağız Efe Çiçekçisoy</dc:creator>
  <cp:lastModifiedBy>Yağız Efe Çiçekçisoy</cp:lastModifiedBy>
  <cp:revision>1</cp:revision>
  <dcterms:created xsi:type="dcterms:W3CDTF">2026-10-26T14:01:59Z</dcterms:created>
  <dcterms:modified xsi:type="dcterms:W3CDTF">2026-10-26T14:01:59Z</dcterms:modified>
</cp:coreProperties>
</file>